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74" r:id="rId23"/>
    <p:sldId id="318" r:id="rId24"/>
    <p:sldId id="319" r:id="rId25"/>
    <p:sldId id="320" r:id="rId26"/>
    <p:sldId id="321" r:id="rId27"/>
    <p:sldId id="322" r:id="rId28"/>
    <p:sldId id="323" r:id="rId29"/>
    <p:sldId id="325" r:id="rId30"/>
    <p:sldId id="326" r:id="rId31"/>
    <p:sldId id="327" r:id="rId32"/>
    <p:sldId id="328" r:id="rId33"/>
    <p:sldId id="329" r:id="rId34"/>
    <p:sldId id="330" r:id="rId35"/>
    <p:sldId id="332" r:id="rId3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67" autoAdjust="0"/>
  </p:normalViewPr>
  <p:slideViewPr>
    <p:cSldViewPr>
      <p:cViewPr>
        <p:scale>
          <a:sx n="90" d="100"/>
          <a:sy n="90" d="100"/>
        </p:scale>
        <p:origin x="1234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843B0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843B0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843B0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843B0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3A6F-B049-4A3C-A314-6C5DC6ABA413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32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A0579-E4EA-4069-8E9E-A5661942CE83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59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C4A0-A0AB-494A-9349-6940CE23F0BB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9F13F-E3C0-47E7-81E7-2D67CDFD97CE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43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4F48-C21C-4E8E-AA43-BB8E3BD2F306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26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0D7BC-B940-4993-A11F-8FBB77BA204E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06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94854-92A4-4BB6-9F1F-69BBC71788FF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6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6CBDC-D391-4FA9-8D6F-9BC119CA0B97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57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F212E-DE5B-4D49-B277-6F5AF26D6AF0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1400-0AF8-4881-9500-1BCE077EF02C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98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0AC9-8025-43C3-9D7A-B30453D05E68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38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1431" y="215900"/>
            <a:ext cx="386143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843B0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3485" y="1529334"/>
            <a:ext cx="7317028" cy="251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8203" y="6457267"/>
            <a:ext cx="249554" cy="2165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C9A0F-356B-4543-BBC4-6729314C25D3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4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13485" y="1529334"/>
            <a:ext cx="7317028" cy="2091342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9370" marR="30480" algn="ctr">
              <a:lnSpc>
                <a:spcPct val="90400"/>
              </a:lnSpc>
              <a:spcBef>
                <a:spcPts val="415"/>
              </a:spcBef>
            </a:pPr>
            <a:r>
              <a:rPr spc="-10" dirty="0"/>
              <a:t>DefectVision</a:t>
            </a:r>
            <a:r>
              <a:rPr spc="-50" dirty="0"/>
              <a:t> </a:t>
            </a:r>
            <a:r>
              <a:rPr dirty="0"/>
              <a:t>AI:</a:t>
            </a:r>
            <a:r>
              <a:rPr spc="-55" dirty="0"/>
              <a:t> </a:t>
            </a:r>
            <a:r>
              <a:rPr spc="-10" dirty="0"/>
              <a:t>Multi-</a:t>
            </a:r>
            <a:r>
              <a:rPr dirty="0"/>
              <a:t>Model</a:t>
            </a:r>
            <a:r>
              <a:rPr spc="-65" dirty="0"/>
              <a:t> </a:t>
            </a:r>
            <a:r>
              <a:rPr spc="-10" dirty="0"/>
              <a:t>Industrial Defect</a:t>
            </a:r>
            <a:r>
              <a:rPr spc="-60" dirty="0"/>
              <a:t> </a:t>
            </a:r>
            <a:r>
              <a:rPr dirty="0"/>
              <a:t>Detection</a:t>
            </a:r>
            <a:r>
              <a:rPr spc="-75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10" dirty="0"/>
              <a:t>Intelligent</a:t>
            </a:r>
            <a:r>
              <a:rPr spc="-55" dirty="0"/>
              <a:t> </a:t>
            </a:r>
            <a:r>
              <a:rPr dirty="0"/>
              <a:t>Quality</a:t>
            </a:r>
            <a:r>
              <a:rPr spc="-75" dirty="0"/>
              <a:t> </a:t>
            </a:r>
            <a:r>
              <a:rPr spc="-10" dirty="0"/>
              <a:t>Inspection System</a:t>
            </a:r>
          </a:p>
          <a:p>
            <a:pPr marL="874394">
              <a:lnSpc>
                <a:spcPct val="100000"/>
              </a:lnSpc>
              <a:spcBef>
                <a:spcPts val="1245"/>
              </a:spcBef>
            </a:pPr>
            <a:r>
              <a:rPr sz="2000" b="1" spc="125" dirty="0">
                <a:solidFill>
                  <a:srgbClr val="212A35"/>
                </a:solidFill>
                <a:latin typeface="Calibri"/>
                <a:cs typeface="Calibri"/>
              </a:rPr>
              <a:t>23AI&amp;ML7552:</a:t>
            </a:r>
            <a:r>
              <a:rPr sz="2000" b="1" spc="135" dirty="0">
                <a:solidFill>
                  <a:srgbClr val="212A35"/>
                </a:solidFill>
                <a:latin typeface="Calibri"/>
                <a:cs typeface="Calibri"/>
              </a:rPr>
              <a:t> </a:t>
            </a:r>
            <a:r>
              <a:rPr sz="2000" b="1" spc="110" dirty="0">
                <a:solidFill>
                  <a:srgbClr val="212A35"/>
                </a:solidFill>
                <a:latin typeface="Calibri"/>
                <a:cs typeface="Calibri"/>
              </a:rPr>
              <a:t>B.</a:t>
            </a:r>
            <a:r>
              <a:rPr sz="2000" b="1" spc="65" dirty="0">
                <a:solidFill>
                  <a:srgbClr val="212A35"/>
                </a:solidFill>
                <a:latin typeface="Calibri"/>
                <a:cs typeface="Calibri"/>
              </a:rPr>
              <a:t> </a:t>
            </a:r>
            <a:r>
              <a:rPr sz="2000" b="1" spc="55" dirty="0">
                <a:solidFill>
                  <a:srgbClr val="212A35"/>
                </a:solidFill>
                <a:latin typeface="Calibri"/>
                <a:cs typeface="Calibri"/>
              </a:rPr>
              <a:t>Tech</a:t>
            </a:r>
            <a:r>
              <a:rPr sz="2000" b="1" spc="120" dirty="0">
                <a:solidFill>
                  <a:srgbClr val="212A35"/>
                </a:solidFill>
                <a:latin typeface="Calibri"/>
                <a:cs typeface="Calibri"/>
              </a:rPr>
              <a:t> Mini</a:t>
            </a:r>
            <a:r>
              <a:rPr sz="2000" b="1" spc="105" dirty="0">
                <a:solidFill>
                  <a:srgbClr val="212A35"/>
                </a:solidFill>
                <a:latin typeface="Calibri"/>
                <a:cs typeface="Calibri"/>
              </a:rPr>
              <a:t> </a:t>
            </a:r>
            <a:r>
              <a:rPr sz="2000" b="1" spc="45" dirty="0">
                <a:solidFill>
                  <a:srgbClr val="212A35"/>
                </a:solidFill>
                <a:latin typeface="Calibri"/>
                <a:cs typeface="Calibri"/>
              </a:rPr>
              <a:t>Project</a:t>
            </a:r>
            <a:r>
              <a:rPr sz="2000" b="1" spc="75" dirty="0">
                <a:solidFill>
                  <a:srgbClr val="212A3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12A35"/>
                </a:solidFill>
                <a:latin typeface="Calibri"/>
                <a:cs typeface="Calibri"/>
              </a:rPr>
              <a:t>(</a:t>
            </a:r>
            <a:r>
              <a:rPr lang="en-IN" sz="2000" b="1" dirty="0">
                <a:solidFill>
                  <a:srgbClr val="212A35"/>
                </a:solidFill>
                <a:latin typeface="Calibri"/>
                <a:cs typeface="Calibri"/>
              </a:rPr>
              <a:t>1</a:t>
            </a:r>
            <a:r>
              <a:rPr lang="en-IN" sz="1950" b="1" baseline="25641" dirty="0">
                <a:solidFill>
                  <a:srgbClr val="212A35"/>
                </a:solidFill>
                <a:latin typeface="Calibri"/>
                <a:cs typeface="Calibri"/>
              </a:rPr>
              <a:t>st</a:t>
            </a:r>
            <a:r>
              <a:rPr sz="1950" b="1" spc="67" baseline="25641" dirty="0">
                <a:solidFill>
                  <a:srgbClr val="212A35"/>
                </a:solidFill>
                <a:latin typeface="Calibri"/>
                <a:cs typeface="Calibri"/>
              </a:rPr>
              <a:t> </a:t>
            </a:r>
            <a:r>
              <a:rPr sz="2000" b="1" spc="65" dirty="0">
                <a:solidFill>
                  <a:srgbClr val="212A35"/>
                </a:solidFill>
                <a:latin typeface="Calibri"/>
                <a:cs typeface="Calibri"/>
              </a:rPr>
              <a:t>Review)</a:t>
            </a:r>
            <a:endParaRPr sz="2000" dirty="0">
              <a:latin typeface="Calibri"/>
              <a:cs typeface="Calibri"/>
            </a:endParaRPr>
          </a:p>
          <a:p>
            <a:pPr marL="2442845" marR="2434590" indent="383540">
              <a:lnSpc>
                <a:spcPct val="150000"/>
              </a:lnSpc>
              <a:spcBef>
                <a:spcPts val="55"/>
              </a:spcBef>
            </a:pPr>
            <a:r>
              <a:rPr sz="1800" b="1" dirty="0">
                <a:solidFill>
                  <a:srgbClr val="212A35"/>
                </a:solidFill>
                <a:latin typeface="Calibri"/>
                <a:cs typeface="Calibri"/>
              </a:rPr>
              <a:t>18</a:t>
            </a:r>
            <a:r>
              <a:rPr sz="1800" b="1" baseline="25462" dirty="0">
                <a:solidFill>
                  <a:srgbClr val="212A35"/>
                </a:solidFill>
                <a:latin typeface="Calibri"/>
                <a:cs typeface="Calibri"/>
              </a:rPr>
              <a:t>th</a:t>
            </a:r>
            <a:r>
              <a:rPr sz="1800" b="1" spc="277" baseline="25462" dirty="0">
                <a:solidFill>
                  <a:srgbClr val="212A35"/>
                </a:solidFill>
                <a:latin typeface="Calibri"/>
                <a:cs typeface="Calibri"/>
              </a:rPr>
              <a:t> </a:t>
            </a:r>
            <a:r>
              <a:rPr sz="1800" b="1" spc="60" dirty="0">
                <a:solidFill>
                  <a:srgbClr val="212A35"/>
                </a:solidFill>
                <a:latin typeface="Calibri"/>
                <a:cs typeface="Calibri"/>
              </a:rPr>
              <a:t>August</a:t>
            </a:r>
            <a:r>
              <a:rPr sz="1800" b="1" spc="75" dirty="0">
                <a:solidFill>
                  <a:srgbClr val="212A35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212A35"/>
                </a:solidFill>
                <a:latin typeface="Calibri"/>
                <a:cs typeface="Calibri"/>
              </a:rPr>
              <a:t>2026 </a:t>
            </a:r>
            <a:r>
              <a:rPr lang="en-IN" sz="1800" b="1" spc="-20" dirty="0">
                <a:solidFill>
                  <a:srgbClr val="212A35"/>
                </a:solidFill>
                <a:latin typeface="Calibri"/>
                <a:cs typeface="Calibri"/>
              </a:rPr>
              <a:t>		  </a:t>
            </a:r>
            <a:r>
              <a:rPr sz="1800" b="1" spc="55" dirty="0">
                <a:solidFill>
                  <a:srgbClr val="212A35"/>
                </a:solidFill>
                <a:latin typeface="Calibri"/>
                <a:cs typeface="Calibri"/>
              </a:rPr>
              <a:t>Batch</a:t>
            </a:r>
            <a:r>
              <a:rPr sz="1800" b="1" spc="45" dirty="0">
                <a:solidFill>
                  <a:srgbClr val="212A35"/>
                </a:solidFill>
                <a:latin typeface="Calibri"/>
                <a:cs typeface="Calibri"/>
              </a:rPr>
              <a:t> </a:t>
            </a:r>
            <a:r>
              <a:rPr sz="1800" b="1" spc="130" dirty="0">
                <a:solidFill>
                  <a:srgbClr val="212A35"/>
                </a:solidFill>
                <a:latin typeface="Calibri"/>
                <a:cs typeface="Calibri"/>
              </a:rPr>
              <a:t>No:</a:t>
            </a:r>
            <a:r>
              <a:rPr sz="1800" b="1" spc="45" dirty="0">
                <a:solidFill>
                  <a:srgbClr val="212A35"/>
                </a:solidFill>
                <a:latin typeface="Calibri"/>
                <a:cs typeface="Calibri"/>
              </a:rPr>
              <a:t> </a:t>
            </a:r>
            <a:r>
              <a:rPr lang="en-IN" sz="1800" b="1" spc="110" dirty="0">
                <a:solidFill>
                  <a:srgbClr val="212A35"/>
                </a:solidFill>
                <a:latin typeface="Calibri"/>
                <a:cs typeface="Calibri"/>
              </a:rPr>
              <a:t>26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9426" y="4403794"/>
            <a:ext cx="3865373" cy="159956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972819">
              <a:lnSpc>
                <a:spcPct val="100000"/>
              </a:lnSpc>
              <a:spcBef>
                <a:spcPts val="930"/>
              </a:spcBef>
            </a:pPr>
            <a:r>
              <a:rPr sz="2000" b="1" spc="50" dirty="0">
                <a:solidFill>
                  <a:srgbClr val="C55A11"/>
                </a:solidFill>
                <a:latin typeface="Calibri"/>
                <a:cs typeface="Calibri"/>
              </a:rPr>
              <a:t>Batch</a:t>
            </a:r>
            <a:r>
              <a:rPr sz="2000" b="1" spc="8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55A11"/>
                </a:solidFill>
                <a:latin typeface="Calibri"/>
                <a:cs typeface="Calibri"/>
              </a:rPr>
              <a:t>Members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900" b="1" dirty="0">
                <a:latin typeface="Calibri"/>
                <a:cs typeface="Calibri"/>
              </a:rPr>
              <a:t>P.</a:t>
            </a:r>
            <a:r>
              <a:rPr lang="en-IN" sz="1900" b="1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Venkata</a:t>
            </a:r>
            <a:r>
              <a:rPr lang="en-IN" sz="1900" b="1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Naveen</a:t>
            </a:r>
            <a:r>
              <a:rPr sz="1900" b="1" spc="17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–</a:t>
            </a:r>
            <a:r>
              <a:rPr sz="1900" b="1" spc="150" dirty="0">
                <a:latin typeface="Calibri"/>
                <a:cs typeface="Calibri"/>
              </a:rPr>
              <a:t> </a:t>
            </a:r>
            <a:r>
              <a:rPr sz="1900" b="1" spc="40" dirty="0">
                <a:latin typeface="Calibri"/>
                <a:cs typeface="Calibri"/>
              </a:rPr>
              <a:t>248W5A4204</a:t>
            </a:r>
            <a:endParaRPr sz="1900" dirty="0">
              <a:latin typeface="Calibri"/>
              <a:cs typeface="Calibri"/>
            </a:endParaRPr>
          </a:p>
          <a:p>
            <a:pPr marL="12700" marR="133985">
              <a:lnSpc>
                <a:spcPct val="133700"/>
              </a:lnSpc>
            </a:pPr>
            <a:r>
              <a:rPr sz="1900" b="1" dirty="0">
                <a:latin typeface="Calibri"/>
                <a:cs typeface="Calibri"/>
              </a:rPr>
              <a:t>P.</a:t>
            </a:r>
            <a:r>
              <a:rPr sz="1900" b="1" spc="40" dirty="0">
                <a:latin typeface="Calibri"/>
                <a:cs typeface="Calibri"/>
              </a:rPr>
              <a:t> </a:t>
            </a:r>
            <a:r>
              <a:rPr sz="1900" b="1" spc="50" dirty="0">
                <a:latin typeface="Calibri"/>
                <a:cs typeface="Calibri"/>
              </a:rPr>
              <a:t>Surya</a:t>
            </a:r>
            <a:r>
              <a:rPr sz="1900" b="1" spc="70" dirty="0">
                <a:latin typeface="Calibri"/>
                <a:cs typeface="Calibri"/>
              </a:rPr>
              <a:t> </a:t>
            </a:r>
            <a:r>
              <a:rPr sz="1900" b="1" spc="80" dirty="0">
                <a:latin typeface="Calibri"/>
                <a:cs typeface="Calibri"/>
              </a:rPr>
              <a:t>Charan</a:t>
            </a:r>
            <a:r>
              <a:rPr sz="1900" b="1" spc="10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–</a:t>
            </a:r>
            <a:r>
              <a:rPr sz="1900" b="1" spc="55" dirty="0">
                <a:latin typeface="Calibri"/>
                <a:cs typeface="Calibri"/>
              </a:rPr>
              <a:t> </a:t>
            </a:r>
            <a:r>
              <a:rPr sz="1900" b="1" spc="45" dirty="0">
                <a:latin typeface="Calibri"/>
                <a:cs typeface="Calibri"/>
              </a:rPr>
              <a:t>238W1A4251 </a:t>
            </a:r>
            <a:r>
              <a:rPr sz="1900" b="1" spc="195" dirty="0">
                <a:latin typeface="Calibri"/>
                <a:cs typeface="Calibri"/>
              </a:rPr>
              <a:t>Ch.</a:t>
            </a:r>
            <a:r>
              <a:rPr sz="1900" b="1" spc="13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Jaswanth</a:t>
            </a:r>
            <a:r>
              <a:rPr sz="1900" b="1" spc="18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–</a:t>
            </a:r>
            <a:r>
              <a:rPr sz="1900" b="1" spc="135" dirty="0">
                <a:latin typeface="Calibri"/>
                <a:cs typeface="Calibri"/>
              </a:rPr>
              <a:t> </a:t>
            </a:r>
            <a:r>
              <a:rPr sz="1900" b="1" spc="45" dirty="0">
                <a:latin typeface="Calibri"/>
                <a:cs typeface="Calibri"/>
              </a:rPr>
              <a:t>238W1A4206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97778" y="4379959"/>
            <a:ext cx="2576195" cy="139065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20"/>
              </a:spcBef>
            </a:pPr>
            <a:r>
              <a:rPr sz="2000" b="1" spc="65" dirty="0">
                <a:solidFill>
                  <a:srgbClr val="C55A11"/>
                </a:solidFill>
                <a:latin typeface="Calibri"/>
                <a:cs typeface="Calibri"/>
              </a:rPr>
              <a:t>Under</a:t>
            </a:r>
            <a:r>
              <a:rPr sz="2000" b="1" spc="3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55A11"/>
                </a:solidFill>
                <a:latin typeface="Calibri"/>
                <a:cs typeface="Calibri"/>
              </a:rPr>
              <a:t>the</a:t>
            </a:r>
            <a:r>
              <a:rPr sz="2000" b="1" spc="6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000" b="1" spc="70" dirty="0">
                <a:solidFill>
                  <a:srgbClr val="C55A11"/>
                </a:solidFill>
                <a:latin typeface="Calibri"/>
                <a:cs typeface="Calibri"/>
              </a:rPr>
              <a:t>Guidance</a:t>
            </a:r>
            <a:r>
              <a:rPr sz="2000" b="1" spc="80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C55A11"/>
                </a:solidFill>
                <a:latin typeface="Calibri"/>
                <a:cs typeface="Calibri"/>
              </a:rPr>
              <a:t>of</a:t>
            </a:r>
            <a:endParaRPr sz="2000">
              <a:latin typeface="Calibri"/>
              <a:cs typeface="Calibri"/>
            </a:endParaRPr>
          </a:p>
          <a:p>
            <a:pPr marL="271145" marR="261620" indent="-3175" algn="ctr">
              <a:lnSpc>
                <a:spcPct val="153700"/>
              </a:lnSpc>
              <a:spcBef>
                <a:spcPts val="15"/>
              </a:spcBef>
            </a:pPr>
            <a:r>
              <a:rPr sz="1900" b="1" spc="55" dirty="0">
                <a:latin typeface="Calibri"/>
                <a:cs typeface="Calibri"/>
              </a:rPr>
              <a:t>Mr.</a:t>
            </a:r>
            <a:r>
              <a:rPr sz="1900" b="1" spc="85" dirty="0">
                <a:latin typeface="Calibri"/>
                <a:cs typeface="Calibri"/>
              </a:rPr>
              <a:t> </a:t>
            </a:r>
            <a:r>
              <a:rPr sz="1900" b="1" spc="95" dirty="0">
                <a:latin typeface="Calibri"/>
                <a:cs typeface="Calibri"/>
              </a:rPr>
              <a:t>S.</a:t>
            </a:r>
            <a:r>
              <a:rPr sz="1900" b="1" spc="55" dirty="0">
                <a:latin typeface="Calibri"/>
                <a:cs typeface="Calibri"/>
              </a:rPr>
              <a:t> </a:t>
            </a:r>
            <a:r>
              <a:rPr sz="1900" b="1" spc="45" dirty="0">
                <a:latin typeface="Calibri"/>
                <a:cs typeface="Calibri"/>
              </a:rPr>
              <a:t>Rajesh </a:t>
            </a:r>
            <a:r>
              <a:rPr sz="1900" b="1" spc="50" dirty="0">
                <a:latin typeface="Calibri"/>
                <a:cs typeface="Calibri"/>
              </a:rPr>
              <a:t>Assistant</a:t>
            </a:r>
            <a:r>
              <a:rPr sz="1900" b="1" spc="10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Professor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2138" y="264032"/>
            <a:ext cx="571500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989455" marR="5080" indent="-1977389">
              <a:lnSpc>
                <a:spcPts val="2160"/>
              </a:lnSpc>
              <a:spcBef>
                <a:spcPts val="375"/>
              </a:spcBef>
            </a:pPr>
            <a:r>
              <a:rPr sz="2000" b="1" spc="285" dirty="0">
                <a:latin typeface="Calibri"/>
                <a:cs typeface="Calibri"/>
              </a:rPr>
              <a:t>VR</a:t>
            </a:r>
            <a:r>
              <a:rPr sz="2000" b="1" spc="70" dirty="0">
                <a:latin typeface="Calibri"/>
                <a:cs typeface="Calibri"/>
              </a:rPr>
              <a:t> </a:t>
            </a:r>
            <a:r>
              <a:rPr sz="2000" b="1" spc="300" dirty="0">
                <a:latin typeface="Calibri"/>
                <a:cs typeface="Calibri"/>
              </a:rPr>
              <a:t>SIDDHARTHA</a:t>
            </a:r>
            <a:r>
              <a:rPr sz="2000" b="1" spc="135" dirty="0">
                <a:latin typeface="Calibri"/>
                <a:cs typeface="Calibri"/>
              </a:rPr>
              <a:t> </a:t>
            </a:r>
            <a:r>
              <a:rPr sz="2000" b="1" spc="320" dirty="0">
                <a:latin typeface="Calibri"/>
                <a:cs typeface="Calibri"/>
              </a:rPr>
              <a:t>ENGINEERING</a:t>
            </a:r>
            <a:r>
              <a:rPr sz="2000" b="1" spc="114" dirty="0">
                <a:latin typeface="Calibri"/>
                <a:cs typeface="Calibri"/>
              </a:rPr>
              <a:t> </a:t>
            </a:r>
            <a:r>
              <a:rPr sz="2000" b="1" spc="360" dirty="0">
                <a:latin typeface="Calibri"/>
                <a:cs typeface="Calibri"/>
              </a:rPr>
              <a:t>COLLEGE, </a:t>
            </a:r>
            <a:r>
              <a:rPr sz="2000" b="1" spc="215" dirty="0">
                <a:latin typeface="Calibri"/>
                <a:cs typeface="Calibri"/>
              </a:rPr>
              <a:t>VIJAYAWADA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645666" y="812368"/>
            <a:ext cx="56464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0000"/>
                </a:solidFill>
              </a:rPr>
              <a:t>Department</a:t>
            </a:r>
            <a:r>
              <a:rPr sz="2000" spc="17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of</a:t>
            </a:r>
            <a:r>
              <a:rPr sz="2000" spc="355" dirty="0">
                <a:solidFill>
                  <a:srgbClr val="000000"/>
                </a:solidFill>
              </a:rPr>
              <a:t> </a:t>
            </a:r>
            <a:r>
              <a:rPr sz="2000" spc="65" dirty="0">
                <a:solidFill>
                  <a:srgbClr val="000000"/>
                </a:solidFill>
              </a:rPr>
              <a:t>Computer</a:t>
            </a:r>
            <a:r>
              <a:rPr sz="2000" spc="15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Science</a:t>
            </a:r>
            <a:r>
              <a:rPr sz="2000" spc="19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and</a:t>
            </a:r>
            <a:r>
              <a:rPr sz="2000" spc="229" dirty="0">
                <a:solidFill>
                  <a:srgbClr val="000000"/>
                </a:solidFill>
              </a:rPr>
              <a:t> </a:t>
            </a:r>
            <a:r>
              <a:rPr sz="2000" spc="55" dirty="0">
                <a:solidFill>
                  <a:srgbClr val="000000"/>
                </a:solidFill>
              </a:rPr>
              <a:t>Engineering</a:t>
            </a:r>
            <a:endParaRPr sz="20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783" y="161340"/>
            <a:ext cx="950353" cy="11180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8293" y="153466"/>
            <a:ext cx="1079833" cy="10798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3358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7542" y="237566"/>
            <a:ext cx="1727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75" dirty="0"/>
              <a:t>Abstract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985265"/>
            <a:ext cx="7907020" cy="5193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039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Industrial</a:t>
            </a:r>
            <a:r>
              <a:rPr sz="2000" spc="3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inspection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critical</a:t>
            </a:r>
            <a:r>
              <a:rPr sz="2000" spc="3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3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manufacturing,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where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</a:pPr>
            <a:r>
              <a:rPr sz="2000" dirty="0">
                <a:latin typeface="Calibri"/>
                <a:cs typeface="Calibri"/>
              </a:rPr>
              <a:t>manual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inspection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often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time-</a:t>
            </a:r>
            <a:r>
              <a:rPr sz="2000" b="1" dirty="0">
                <a:latin typeface="Calibri"/>
                <a:cs typeface="Calibri"/>
              </a:rPr>
              <a:t>consuming,</a:t>
            </a:r>
            <a:r>
              <a:rPr sz="2000" b="1" spc="9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inconsistent,</a:t>
            </a:r>
            <a:r>
              <a:rPr sz="2000" b="1" spc="8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8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error-</a:t>
            </a:r>
            <a:r>
              <a:rPr sz="2000" b="1" spc="-10" dirty="0">
                <a:latin typeface="Calibri"/>
                <a:cs typeface="Calibri"/>
              </a:rPr>
              <a:t>prone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proposes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DefectVision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AI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AI-</a:t>
            </a:r>
            <a:r>
              <a:rPr sz="2000" b="1" dirty="0">
                <a:latin typeface="Calibri"/>
                <a:cs typeface="Calibri"/>
              </a:rPr>
              <a:t>powered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intelligent</a:t>
            </a:r>
            <a:r>
              <a:rPr sz="2000" b="1" spc="-10" dirty="0">
                <a:latin typeface="Calibri"/>
                <a:cs typeface="Calibri"/>
              </a:rPr>
              <a:t> inspection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</a:pPr>
            <a:r>
              <a:rPr sz="2000" b="1" dirty="0">
                <a:latin typeface="Calibri"/>
                <a:cs typeface="Calibri"/>
              </a:rPr>
              <a:t>system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automated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defect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anomaly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localization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deep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</a:pP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techniques.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integrates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supervised</a:t>
            </a:r>
            <a:r>
              <a:rPr sz="2000" b="1" spc="9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models</a:t>
            </a:r>
            <a:r>
              <a:rPr sz="2000" b="1" spc="9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(CNN-</a:t>
            </a:r>
            <a:r>
              <a:rPr sz="2000" b="1" spc="-10" dirty="0">
                <a:latin typeface="Calibri"/>
                <a:cs typeface="Calibri"/>
              </a:rPr>
              <a:t>based</a:t>
            </a:r>
            <a:endParaRPr sz="2000">
              <a:latin typeface="Calibri"/>
              <a:cs typeface="Calibri"/>
            </a:endParaRPr>
          </a:p>
          <a:p>
            <a:pPr marL="12700" marR="6985">
              <a:lnSpc>
                <a:spcPct val="70000"/>
              </a:lnSpc>
              <a:spcBef>
                <a:spcPts val="360"/>
              </a:spcBef>
            </a:pPr>
            <a:r>
              <a:rPr sz="2000" b="1" dirty="0">
                <a:latin typeface="Calibri"/>
                <a:cs typeface="Calibri"/>
              </a:rPr>
              <a:t>classifiers)</a:t>
            </a:r>
            <a:r>
              <a:rPr sz="2000" b="1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unsupervised</a:t>
            </a:r>
            <a:r>
              <a:rPr sz="2000" b="1" spc="1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anomaly</a:t>
            </a:r>
            <a:r>
              <a:rPr sz="2000" b="1" spc="1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detection</a:t>
            </a:r>
            <a:r>
              <a:rPr sz="2000" b="1" spc="1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methods</a:t>
            </a:r>
            <a:r>
              <a:rPr sz="2000" b="1" spc="1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(Autoencoders, PatchCore,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PaDiM)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defects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accuracy.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039"/>
              </a:lnSpc>
              <a:spcBef>
                <a:spcPts val="275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proposed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framework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3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identifies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defective</a:t>
            </a:r>
            <a:r>
              <a:rPr sz="2000" spc="3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products</a:t>
            </a:r>
            <a:r>
              <a:rPr sz="2000" spc="3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also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</a:pPr>
            <a:r>
              <a:rPr sz="2000" dirty="0">
                <a:latin typeface="Calibri"/>
                <a:cs typeface="Calibri"/>
              </a:rPr>
              <a:t>provides</a:t>
            </a:r>
            <a:r>
              <a:rPr sz="2000" spc="65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visual</a:t>
            </a:r>
            <a:r>
              <a:rPr sz="2000" b="1" spc="7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explanations</a:t>
            </a:r>
            <a:r>
              <a:rPr sz="2000" b="1" spc="65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using</a:t>
            </a:r>
            <a:r>
              <a:rPr sz="2000" b="1" spc="65" dirty="0">
                <a:latin typeface="Calibri"/>
                <a:cs typeface="Calibri"/>
              </a:rPr>
              <a:t>  </a:t>
            </a:r>
            <a:r>
              <a:rPr sz="2000" b="1" spc="-15" dirty="0">
                <a:latin typeface="Calibri"/>
                <a:cs typeface="Calibri"/>
              </a:rPr>
              <a:t>Grad-</a:t>
            </a:r>
            <a:r>
              <a:rPr sz="2000" b="1" dirty="0">
                <a:latin typeface="Calibri"/>
                <a:cs typeface="Calibri"/>
              </a:rPr>
              <a:t>CAM</a:t>
            </a:r>
            <a:r>
              <a:rPr sz="2000" b="1" spc="7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7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anomaly</a:t>
            </a:r>
            <a:r>
              <a:rPr sz="2000" b="1" spc="70" dirty="0">
                <a:latin typeface="Calibri"/>
                <a:cs typeface="Calibri"/>
              </a:rPr>
              <a:t>  </a:t>
            </a:r>
            <a:r>
              <a:rPr sz="2000" b="1" spc="-10" dirty="0">
                <a:latin typeface="Calibri"/>
                <a:cs typeface="Calibri"/>
              </a:rPr>
              <a:t>heatmaps</a:t>
            </a:r>
            <a:r>
              <a:rPr sz="2000" spc="-10" dirty="0">
                <a:latin typeface="Calibri"/>
                <a:cs typeface="Calibri"/>
              </a:rPr>
              <a:t>,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  <a:tabLst>
                <a:tab pos="1263650" algn="l"/>
                <a:tab pos="2132330" algn="l"/>
                <a:tab pos="3940175" algn="l"/>
                <a:tab pos="4300220" algn="l"/>
                <a:tab pos="5348605" algn="l"/>
                <a:tab pos="6311900" algn="l"/>
                <a:tab pos="7735570" algn="l"/>
              </a:tabLst>
            </a:pPr>
            <a:r>
              <a:rPr sz="2000" spc="-10" dirty="0">
                <a:latin typeface="Calibri"/>
                <a:cs typeface="Calibri"/>
              </a:rPr>
              <a:t>improving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model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interpretability.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severity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scoring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mechanism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</a:pPr>
            <a:r>
              <a:rPr sz="2000" dirty="0">
                <a:latin typeface="Calibri"/>
                <a:cs typeface="Calibri"/>
              </a:rPr>
              <a:t>introduced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classify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defects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minor,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moderate,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critical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categories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  <a:tabLst>
                <a:tab pos="774065" algn="l"/>
                <a:tab pos="1187450" algn="l"/>
                <a:tab pos="2221230" algn="l"/>
                <a:tab pos="3257550" algn="l"/>
                <a:tab pos="3792220" algn="l"/>
                <a:tab pos="4587875" algn="l"/>
                <a:tab pos="5253990" algn="l"/>
                <a:tab pos="6685280" algn="l"/>
                <a:tab pos="7176134" algn="l"/>
              </a:tabLst>
            </a:pPr>
            <a:r>
              <a:rPr sz="2000" spc="-10" dirty="0">
                <a:latin typeface="Calibri"/>
                <a:cs typeface="Calibri"/>
              </a:rPr>
              <a:t>based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on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anomaly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intensity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and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defect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area.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Additionally,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70000"/>
              </a:lnSpc>
              <a:spcBef>
                <a:spcPts val="360"/>
              </a:spcBef>
            </a:pPr>
            <a:r>
              <a:rPr sz="2000" dirty="0">
                <a:latin typeface="Calibri"/>
                <a:cs typeface="Calibri"/>
              </a:rPr>
              <a:t>supports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batch</a:t>
            </a:r>
            <a:r>
              <a:rPr sz="2000" b="1" spc="10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inspection,</a:t>
            </a:r>
            <a:r>
              <a:rPr sz="2000" b="1" spc="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folder</a:t>
            </a:r>
            <a:r>
              <a:rPr sz="2000" b="1" spc="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monitoring,</a:t>
            </a:r>
            <a:r>
              <a:rPr sz="2000" b="1" spc="9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8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real-</a:t>
            </a:r>
            <a:r>
              <a:rPr sz="2000" b="1" dirty="0">
                <a:latin typeface="Calibri"/>
                <a:cs typeface="Calibri"/>
              </a:rPr>
              <a:t>time</a:t>
            </a:r>
            <a:r>
              <a:rPr sz="2000" b="1" spc="9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camera-</a:t>
            </a:r>
            <a:r>
              <a:rPr sz="2000" b="1" spc="-10" dirty="0">
                <a:latin typeface="Calibri"/>
                <a:cs typeface="Calibri"/>
              </a:rPr>
              <a:t>based </a:t>
            </a:r>
            <a:r>
              <a:rPr sz="2000" b="1" dirty="0">
                <a:latin typeface="Calibri"/>
                <a:cs typeface="Calibri"/>
              </a:rPr>
              <a:t>inspection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simulating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industrial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environments.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039"/>
              </a:lnSpc>
              <a:spcBef>
                <a:spcPts val="290"/>
              </a:spcBef>
            </a:pPr>
            <a:r>
              <a:rPr sz="2000" dirty="0">
                <a:latin typeface="Calibri"/>
                <a:cs typeface="Calibri"/>
              </a:rPr>
              <a:t>Advanced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features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similarity-</a:t>
            </a:r>
            <a:r>
              <a:rPr sz="2000" b="1" dirty="0">
                <a:latin typeface="Calibri"/>
                <a:cs typeface="Calibri"/>
              </a:rPr>
              <a:t>based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defect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retrieval,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active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learning,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</a:pP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drift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detection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enhance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adaptability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continuous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improvement.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</a:pP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designed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scalable</a:t>
            </a:r>
            <a:r>
              <a:rPr sz="2000" b="1" spc="114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smart</a:t>
            </a:r>
            <a:r>
              <a:rPr sz="2000" b="1" spc="1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manufacturing</a:t>
            </a:r>
            <a:r>
              <a:rPr sz="2000" b="1" spc="1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solution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capable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</a:pPr>
            <a:r>
              <a:rPr sz="2000" dirty="0">
                <a:latin typeface="Calibri"/>
                <a:cs typeface="Calibri"/>
              </a:rPr>
              <a:t>integration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industrial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cameras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automated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pipelines.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Experimental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</a:pPr>
            <a:r>
              <a:rPr sz="2000" dirty="0">
                <a:latin typeface="Calibri"/>
                <a:cs typeface="Calibri"/>
              </a:rPr>
              <a:t>evaluation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MVTec</a:t>
            </a:r>
            <a:r>
              <a:rPr sz="2000" b="1" spc="1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AD</a:t>
            </a:r>
            <a:r>
              <a:rPr sz="2000" b="1" spc="10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dataset</a:t>
            </a:r>
            <a:r>
              <a:rPr sz="2000" b="1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demonstrates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strong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performance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039"/>
              </a:lnSpc>
            </a:pPr>
            <a:r>
              <a:rPr sz="2000" dirty="0">
                <a:latin typeface="Calibri"/>
                <a:cs typeface="Calibri"/>
              </a:rPr>
              <a:t>both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localization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tasks.</a:t>
            </a:r>
            <a:endParaRPr sz="2000">
              <a:latin typeface="Calibri"/>
              <a:cs typeface="Calibri"/>
            </a:endParaRPr>
          </a:p>
          <a:p>
            <a:pPr marL="12700" marR="8890">
              <a:lnSpc>
                <a:spcPct val="70000"/>
              </a:lnSpc>
              <a:spcBef>
                <a:spcPts val="994"/>
              </a:spcBef>
            </a:pPr>
            <a:r>
              <a:rPr sz="2000" spc="-10" dirty="0">
                <a:latin typeface="Calibri"/>
                <a:cs typeface="Calibri"/>
              </a:rPr>
              <a:t>Keywords: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Industrial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Defect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Detection,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Computer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Vision,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Deep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Learning, </a:t>
            </a:r>
            <a:r>
              <a:rPr sz="2000" dirty="0">
                <a:latin typeface="Calibri"/>
                <a:cs typeface="Calibri"/>
              </a:rPr>
              <a:t>Anomaly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Detection,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Explainable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Smart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Manufacturing,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Inspection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7542" y="166496"/>
            <a:ext cx="51320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60" dirty="0"/>
              <a:t>Presentation</a:t>
            </a:r>
            <a:r>
              <a:rPr sz="4400" spc="135" dirty="0"/>
              <a:t> Outline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07542" y="1555241"/>
            <a:ext cx="2756535" cy="4274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9265" algn="l"/>
              </a:tabLst>
            </a:pP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Research</a:t>
            </a:r>
            <a:r>
              <a:rPr sz="2000" b="1" spc="3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90" dirty="0">
                <a:solidFill>
                  <a:srgbClr val="001F5F"/>
                </a:solidFill>
                <a:latin typeface="Calibri"/>
                <a:cs typeface="Calibri"/>
              </a:rPr>
              <a:t>Domain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69265" algn="l"/>
              </a:tabLst>
            </a:pPr>
            <a:r>
              <a:rPr sz="2000" b="1" spc="315" dirty="0">
                <a:solidFill>
                  <a:srgbClr val="001F5F"/>
                </a:solidFill>
                <a:latin typeface="Calibri"/>
                <a:cs typeface="Calibri"/>
              </a:rPr>
              <a:t>SDG</a:t>
            </a:r>
            <a:r>
              <a:rPr sz="2000" b="1" spc="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40" dirty="0">
                <a:solidFill>
                  <a:srgbClr val="001F5F"/>
                </a:solidFill>
                <a:latin typeface="Calibri"/>
                <a:cs typeface="Calibri"/>
              </a:rPr>
              <a:t>Categories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80"/>
              </a:spcBef>
              <a:buAutoNum type="arabicPeriod"/>
              <a:tabLst>
                <a:tab pos="469265" algn="l"/>
              </a:tabLst>
            </a:pPr>
            <a:r>
              <a:rPr sz="2000" b="1" spc="165" dirty="0">
                <a:solidFill>
                  <a:srgbClr val="001F5F"/>
                </a:solidFill>
                <a:latin typeface="Calibri"/>
                <a:cs typeface="Calibri"/>
              </a:rPr>
              <a:t>Aim</a:t>
            </a:r>
            <a:r>
              <a:rPr sz="2000" b="1" spc="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000" b="1" spc="10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35" dirty="0">
                <a:solidFill>
                  <a:srgbClr val="001F5F"/>
                </a:solidFill>
                <a:latin typeface="Calibri"/>
                <a:cs typeface="Calibri"/>
              </a:rPr>
              <a:t>Motivation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75"/>
              </a:spcBef>
              <a:buAutoNum type="arabicPeriod"/>
              <a:tabLst>
                <a:tab pos="469265" algn="l"/>
              </a:tabLst>
            </a:pP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Research</a:t>
            </a:r>
            <a:r>
              <a:rPr sz="2000" b="1" spc="3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Questions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90"/>
              </a:spcBef>
              <a:buAutoNum type="arabicPeriod"/>
              <a:tabLst>
                <a:tab pos="469265" algn="l"/>
              </a:tabLst>
            </a:pPr>
            <a:r>
              <a:rPr sz="2000" b="1" spc="95" dirty="0">
                <a:solidFill>
                  <a:srgbClr val="001F5F"/>
                </a:solidFill>
                <a:latin typeface="Calibri"/>
                <a:cs typeface="Calibri"/>
              </a:rPr>
              <a:t>Title </a:t>
            </a:r>
            <a:r>
              <a:rPr sz="2000" b="1" spc="45" dirty="0">
                <a:solidFill>
                  <a:srgbClr val="001F5F"/>
                </a:solidFill>
                <a:latin typeface="Calibri"/>
                <a:cs typeface="Calibri"/>
              </a:rPr>
              <a:t>Justification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75"/>
              </a:spcBef>
              <a:buAutoNum type="arabicPeriod"/>
              <a:tabLst>
                <a:tab pos="469265" algn="l"/>
              </a:tabLst>
            </a:pP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Objectives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75"/>
              </a:spcBef>
              <a:buAutoNum type="arabicPeriod"/>
              <a:tabLst>
                <a:tab pos="469265" algn="l"/>
              </a:tabLst>
            </a:pP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Scope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90"/>
              </a:spcBef>
              <a:buAutoNum type="arabicPeriod"/>
              <a:tabLst>
                <a:tab pos="469265" algn="l"/>
              </a:tabLst>
            </a:pPr>
            <a:r>
              <a:rPr sz="2000" b="1" spc="75" dirty="0">
                <a:solidFill>
                  <a:srgbClr val="001F5F"/>
                </a:solidFill>
                <a:latin typeface="Calibri"/>
                <a:cs typeface="Calibri"/>
              </a:rPr>
              <a:t>Timeline</a:t>
            </a:r>
            <a:r>
              <a:rPr sz="2000" b="1" spc="8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95" dirty="0">
                <a:solidFill>
                  <a:srgbClr val="001F5F"/>
                </a:solidFill>
                <a:latin typeface="Calibri"/>
                <a:cs typeface="Calibri"/>
              </a:rPr>
              <a:t>Chart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80"/>
              </a:spcBef>
              <a:buAutoNum type="arabicPeriod"/>
              <a:tabLst>
                <a:tab pos="469265" algn="l"/>
              </a:tabLst>
            </a:pP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References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1.</a:t>
            </a:r>
            <a:r>
              <a:rPr spc="90" dirty="0"/>
              <a:t> </a:t>
            </a:r>
            <a:r>
              <a:rPr spc="55" dirty="0"/>
              <a:t>Research</a:t>
            </a:r>
            <a:r>
              <a:rPr spc="120" dirty="0"/>
              <a:t> </a:t>
            </a:r>
            <a:r>
              <a:rPr spc="145" dirty="0"/>
              <a:t>Domain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8533" y="967485"/>
            <a:ext cx="7948295" cy="4116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Primary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Domain: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Artificial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Intelligence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Sub-</a:t>
            </a:r>
            <a:r>
              <a:rPr sz="2400" b="1" dirty="0">
                <a:latin typeface="Calibri"/>
                <a:cs typeface="Calibri"/>
              </a:rPr>
              <a:t>Domain: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Deep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2400">
              <a:latin typeface="Calibri"/>
              <a:cs typeface="Calibri"/>
            </a:endParaRPr>
          </a:p>
          <a:p>
            <a:pPr marL="12700" marR="1621155">
              <a:lnSpc>
                <a:spcPts val="2590"/>
              </a:lnSpc>
            </a:pPr>
            <a:r>
              <a:rPr sz="2400" b="1" dirty="0">
                <a:latin typeface="Calibri"/>
                <a:cs typeface="Calibri"/>
              </a:rPr>
              <a:t>Application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Area: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Industrial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Automation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Smart Manufacturing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60"/>
              </a:spcBef>
            </a:pP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2590"/>
              </a:lnSpc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focuses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applying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deep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learning-</a:t>
            </a:r>
            <a:r>
              <a:rPr sz="2400" b="1" dirty="0">
                <a:latin typeface="Calibri"/>
                <a:cs typeface="Calibri"/>
              </a:rPr>
              <a:t>based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anomaly </a:t>
            </a:r>
            <a:r>
              <a:rPr sz="2400" b="1" dirty="0">
                <a:latin typeface="Calibri"/>
                <a:cs typeface="Calibri"/>
              </a:rPr>
              <a:t>detection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explainable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AI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techniques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industrial </a:t>
            </a:r>
            <a:r>
              <a:rPr sz="2400" dirty="0">
                <a:latin typeface="Calibri"/>
                <a:cs typeface="Calibri"/>
              </a:rPr>
              <a:t>quality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inspection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defect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2.</a:t>
            </a:r>
            <a:r>
              <a:rPr spc="85" dirty="0"/>
              <a:t> </a:t>
            </a:r>
            <a:r>
              <a:rPr spc="484" dirty="0"/>
              <a:t>SDG</a:t>
            </a:r>
            <a:r>
              <a:rPr spc="90" dirty="0"/>
              <a:t> </a:t>
            </a:r>
            <a:r>
              <a:rPr spc="70" dirty="0"/>
              <a:t>Categories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184" y="800655"/>
            <a:ext cx="6793230" cy="304038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83210" indent="-273050">
              <a:lnSpc>
                <a:spcPct val="100000"/>
              </a:lnSpc>
              <a:spcBef>
                <a:spcPts val="440"/>
              </a:spcBef>
              <a:buSzPct val="95833"/>
              <a:buFont typeface="Wingdings"/>
              <a:buChar char=""/>
              <a:tabLst>
                <a:tab pos="283210" algn="l"/>
              </a:tabLst>
            </a:pPr>
            <a:r>
              <a:rPr sz="2400" dirty="0">
                <a:latin typeface="Calibri"/>
                <a:cs typeface="Calibri"/>
              </a:rPr>
              <a:t>SDG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Industry,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Innovation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Infrastructure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Promotes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development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smart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manufacturing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systems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54"/>
              </a:spcBef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Enhances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industrial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productivity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AI</a:t>
            </a:r>
            <a:endParaRPr sz="2000">
              <a:latin typeface="Calibri"/>
              <a:cs typeface="Calibri"/>
            </a:endParaRPr>
          </a:p>
          <a:p>
            <a:pPr marL="283210" indent="-273050">
              <a:lnSpc>
                <a:spcPct val="100000"/>
              </a:lnSpc>
              <a:spcBef>
                <a:spcPts val="695"/>
              </a:spcBef>
              <a:buSzPct val="95833"/>
              <a:buFont typeface="Wingdings"/>
              <a:buChar char=""/>
              <a:tabLst>
                <a:tab pos="283210" algn="l"/>
              </a:tabLst>
            </a:pPr>
            <a:r>
              <a:rPr sz="2400" dirty="0">
                <a:latin typeface="Calibri"/>
                <a:cs typeface="Calibri"/>
              </a:rPr>
              <a:t>SDG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12: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Responsible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Consumption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Production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Reduces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defective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products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material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wastage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65"/>
              </a:spcBef>
              <a:buFont typeface="Wingdings"/>
              <a:buChar char="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Improves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control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processes</a:t>
            </a:r>
            <a:endParaRPr sz="2000">
              <a:latin typeface="Calibri"/>
              <a:cs typeface="Calibri"/>
            </a:endParaRPr>
          </a:p>
          <a:p>
            <a:pPr marL="283210" indent="-273050">
              <a:lnSpc>
                <a:spcPct val="100000"/>
              </a:lnSpc>
              <a:spcBef>
                <a:spcPts val="690"/>
              </a:spcBef>
              <a:buSzPct val="95833"/>
              <a:buFont typeface="Wingdings"/>
              <a:buChar char=""/>
              <a:tabLst>
                <a:tab pos="283210" algn="l"/>
              </a:tabLst>
            </a:pPr>
            <a:r>
              <a:rPr sz="2400" dirty="0">
                <a:latin typeface="Calibri"/>
                <a:cs typeface="Calibri"/>
              </a:rPr>
              <a:t>SDG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Economic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Growth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Increases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efficiency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reduces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manual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labor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dependency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563" y="3852290"/>
            <a:ext cx="7273436" cy="286918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3.</a:t>
            </a:r>
            <a:r>
              <a:rPr spc="114" dirty="0"/>
              <a:t> </a:t>
            </a:r>
            <a:r>
              <a:rPr spc="245" dirty="0"/>
              <a:t>Aim</a:t>
            </a:r>
            <a:r>
              <a:rPr spc="130" dirty="0"/>
              <a:t> </a:t>
            </a:r>
            <a:r>
              <a:rPr dirty="0"/>
              <a:t>and</a:t>
            </a:r>
            <a:r>
              <a:rPr spc="110" dirty="0"/>
              <a:t> </a:t>
            </a:r>
            <a:r>
              <a:rPr spc="70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184" y="974679"/>
            <a:ext cx="8058150" cy="447421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800" b="1" spc="-25" dirty="0">
                <a:latin typeface="Calibri"/>
                <a:cs typeface="Calibri"/>
              </a:rPr>
              <a:t>Aim</a:t>
            </a:r>
            <a:endParaRPr sz="2800">
              <a:latin typeface="Calibri"/>
              <a:cs typeface="Calibri"/>
            </a:endParaRPr>
          </a:p>
          <a:p>
            <a:pPr marL="241300" marR="5080" indent="-231140">
              <a:lnSpc>
                <a:spcPts val="2590"/>
              </a:lnSpc>
              <a:spcBef>
                <a:spcPts val="1080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spc="-105" dirty="0">
                <a:latin typeface="Calibri"/>
                <a:cs typeface="Calibri"/>
              </a:rPr>
              <a:t>	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AI-</a:t>
            </a:r>
            <a:r>
              <a:rPr sz="2400" b="1" dirty="0">
                <a:latin typeface="Calibri"/>
                <a:cs typeface="Calibri"/>
              </a:rPr>
              <a:t>based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intelligent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quality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inspection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system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accurate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defect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detection,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localization,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severity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industrial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products.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5"/>
              </a:spcBef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b="1" spc="-10" dirty="0">
                <a:latin typeface="Calibri"/>
                <a:cs typeface="Calibri"/>
              </a:rPr>
              <a:t>Motivation</a:t>
            </a:r>
            <a:endParaRPr sz="2800">
              <a:latin typeface="Calibri"/>
              <a:cs typeface="Calibri"/>
            </a:endParaRPr>
          </a:p>
          <a:p>
            <a:pPr marL="254635" indent="-244475">
              <a:lnSpc>
                <a:spcPct val="100000"/>
              </a:lnSpc>
              <a:spcBef>
                <a:spcPts val="750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dirty="0">
                <a:latin typeface="Calibri"/>
                <a:cs typeface="Calibri"/>
              </a:rPr>
              <a:t>Manual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inspection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slow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inconsistent</a:t>
            </a:r>
            <a:endParaRPr sz="2400">
              <a:latin typeface="Calibri"/>
              <a:cs typeface="Calibri"/>
            </a:endParaRPr>
          </a:p>
          <a:p>
            <a:pPr marL="254635" indent="-244475">
              <a:lnSpc>
                <a:spcPct val="100000"/>
              </a:lnSpc>
              <a:spcBef>
                <a:spcPts val="710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dirty="0">
                <a:latin typeface="Calibri"/>
                <a:cs typeface="Calibri"/>
              </a:rPr>
              <a:t>Industries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require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automated,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scalable,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reliable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solutions</a:t>
            </a:r>
            <a:endParaRPr sz="2400">
              <a:latin typeface="Calibri"/>
              <a:cs typeface="Calibri"/>
            </a:endParaRPr>
          </a:p>
          <a:p>
            <a:pPr marL="254635" indent="-244475">
              <a:lnSpc>
                <a:spcPct val="100000"/>
              </a:lnSpc>
              <a:spcBef>
                <a:spcPts val="710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dirty="0">
                <a:latin typeface="Calibri"/>
                <a:cs typeface="Calibri"/>
              </a:rPr>
              <a:t>Need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explainable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AI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critical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decision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systems</a:t>
            </a:r>
            <a:endParaRPr sz="2400">
              <a:latin typeface="Calibri"/>
              <a:cs typeface="Calibri"/>
            </a:endParaRPr>
          </a:p>
          <a:p>
            <a:pPr marL="254635" indent="-244475">
              <a:lnSpc>
                <a:spcPct val="100000"/>
              </a:lnSpc>
              <a:spcBef>
                <a:spcPts val="720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dirty="0">
                <a:latin typeface="Calibri"/>
                <a:cs typeface="Calibri"/>
              </a:rPr>
              <a:t>Growing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demand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Industry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4.0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smart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manufacturing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1431" y="111378"/>
            <a:ext cx="3731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4.</a:t>
            </a:r>
            <a:r>
              <a:rPr spc="90" dirty="0"/>
              <a:t> </a:t>
            </a:r>
            <a:r>
              <a:rPr spc="55" dirty="0"/>
              <a:t>Research</a:t>
            </a:r>
            <a:r>
              <a:rPr spc="120" dirty="0"/>
              <a:t> </a:t>
            </a:r>
            <a:r>
              <a:rPr spc="55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145" y="925830"/>
            <a:ext cx="7901940" cy="27590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235585" indent="-228600">
              <a:lnSpc>
                <a:spcPts val="2160"/>
              </a:lnSpc>
              <a:spcBef>
                <a:spcPts val="375"/>
              </a:spcBef>
              <a:buFont typeface="Wingdings"/>
              <a:buChar char="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How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deep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accurately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localize </a:t>
            </a:r>
            <a:r>
              <a:rPr sz="2000" dirty="0">
                <a:latin typeface="Calibri"/>
                <a:cs typeface="Calibri"/>
              </a:rPr>
              <a:t>industrial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defects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real-</a:t>
            </a:r>
            <a:r>
              <a:rPr sz="2000" dirty="0">
                <a:latin typeface="Calibri"/>
                <a:cs typeface="Calibri"/>
              </a:rPr>
              <a:t>world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datasets?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25"/>
              </a:spcBef>
              <a:buFont typeface="Wingdings"/>
              <a:buChar char=""/>
            </a:pPr>
            <a:endParaRPr sz="2000">
              <a:latin typeface="Calibri"/>
              <a:cs typeface="Calibri"/>
            </a:endParaRPr>
          </a:p>
          <a:p>
            <a:pPr marL="241300" marR="506095" indent="-228600">
              <a:lnSpc>
                <a:spcPts val="2160"/>
              </a:lnSpc>
              <a:buFont typeface="Wingdings"/>
              <a:buChar char="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How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explainable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techniques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improve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transparency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trust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automated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defect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detection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systems?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10"/>
              </a:spcBef>
              <a:buFont typeface="Wingdings"/>
              <a:buChar char=""/>
            </a:pP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buFont typeface="Wingdings"/>
              <a:buChar char="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How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anomaly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severity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integrated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enhance </a:t>
            </a:r>
            <a:r>
              <a:rPr sz="2000" dirty="0">
                <a:latin typeface="Calibri"/>
                <a:cs typeface="Calibri"/>
              </a:rPr>
              <a:t>industrial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decision-</a:t>
            </a:r>
            <a:r>
              <a:rPr sz="2000" dirty="0">
                <a:latin typeface="Calibri"/>
                <a:cs typeface="Calibri"/>
              </a:rPr>
              <a:t>making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control?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5.</a:t>
            </a:r>
            <a:r>
              <a:rPr spc="80" dirty="0"/>
              <a:t> </a:t>
            </a:r>
            <a:r>
              <a:rPr spc="140" dirty="0"/>
              <a:t>Title</a:t>
            </a:r>
            <a:r>
              <a:rPr spc="145" dirty="0"/>
              <a:t> </a:t>
            </a:r>
            <a:r>
              <a:rPr spc="80" dirty="0"/>
              <a:t>Justification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184" y="993089"/>
            <a:ext cx="8158480" cy="4366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spc="-10" dirty="0">
                <a:latin typeface="Calibri"/>
                <a:cs typeface="Calibri"/>
              </a:rPr>
              <a:t>“DefectVision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AI”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vision-</a:t>
            </a:r>
            <a:r>
              <a:rPr sz="2000" b="1" dirty="0">
                <a:latin typeface="Calibri"/>
                <a:cs typeface="Calibri"/>
              </a:rPr>
              <a:t>based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intelligent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defect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detection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55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buFont typeface="Wingdings"/>
              <a:buChar char=""/>
              <a:tabLst>
                <a:tab pos="241300" algn="l"/>
                <a:tab pos="1871345" algn="l"/>
                <a:tab pos="3103245" algn="l"/>
                <a:tab pos="4008754" algn="l"/>
                <a:tab pos="5621020" algn="l"/>
                <a:tab pos="6414135" algn="l"/>
                <a:tab pos="7747634" algn="l"/>
              </a:tabLst>
            </a:pPr>
            <a:r>
              <a:rPr sz="2000" spc="-10" dirty="0">
                <a:latin typeface="Calibri"/>
                <a:cs typeface="Calibri"/>
              </a:rPr>
              <a:t>“Explainable”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highlights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model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transparency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using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5" dirty="0">
                <a:latin typeface="Calibri"/>
                <a:cs typeface="Calibri"/>
              </a:rPr>
              <a:t>Grad-</a:t>
            </a:r>
            <a:r>
              <a:rPr sz="2000" b="1" spc="-25" dirty="0">
                <a:latin typeface="Calibri"/>
                <a:cs typeface="Calibri"/>
              </a:rPr>
              <a:t>CAM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25" dirty="0">
                <a:latin typeface="Calibri"/>
                <a:cs typeface="Calibri"/>
              </a:rPr>
              <a:t>and </a:t>
            </a:r>
            <a:r>
              <a:rPr sz="2000" b="1" spc="-10" dirty="0">
                <a:latin typeface="Calibri"/>
                <a:cs typeface="Calibri"/>
              </a:rPr>
              <a:t>heatmaps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14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41300" marR="6985" indent="-228600">
              <a:lnSpc>
                <a:spcPts val="2160"/>
              </a:lnSpc>
              <a:buFont typeface="Wingdings"/>
              <a:buChar char=""/>
              <a:tabLst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“Multi-</a:t>
            </a:r>
            <a:r>
              <a:rPr sz="2000" dirty="0">
                <a:latin typeface="Calibri"/>
                <a:cs typeface="Calibri"/>
              </a:rPr>
              <a:t>Model”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reflects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integration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CNN,</a:t>
            </a:r>
            <a:r>
              <a:rPr sz="2000" b="1" spc="3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Autoencoder,</a:t>
            </a:r>
            <a:r>
              <a:rPr sz="2000" b="1" spc="3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PatchCore,</a:t>
            </a:r>
            <a:r>
              <a:rPr sz="2000" b="1" spc="34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and </a:t>
            </a:r>
            <a:r>
              <a:rPr sz="2000" b="1" spc="-10" dirty="0">
                <a:latin typeface="Calibri"/>
                <a:cs typeface="Calibri"/>
              </a:rPr>
              <a:t>PaDiM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0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“Industrial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Defect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Detection”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specifies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application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domain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55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spcBef>
                <a:spcPts val="5"/>
              </a:spcBef>
              <a:buFont typeface="Wingdings"/>
              <a:buChar char=""/>
              <a:tabLst>
                <a:tab pos="241300" algn="l"/>
                <a:tab pos="1348740" algn="l"/>
                <a:tab pos="2682875" algn="l"/>
                <a:tab pos="3784600" algn="l"/>
                <a:tab pos="5241925" algn="l"/>
                <a:tab pos="6595745" algn="l"/>
                <a:tab pos="7746365" algn="l"/>
              </a:tabLst>
            </a:pPr>
            <a:r>
              <a:rPr sz="2000" spc="-10" dirty="0">
                <a:latin typeface="Calibri"/>
                <a:cs typeface="Calibri"/>
              </a:rPr>
              <a:t>“Quality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Inspection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System”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emphasizes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b="1" spc="-20" dirty="0">
                <a:latin typeface="Calibri"/>
                <a:cs typeface="Calibri"/>
              </a:rPr>
              <a:t>real-</a:t>
            </a:r>
            <a:r>
              <a:rPr sz="2000" b="1" spc="-10" dirty="0">
                <a:latin typeface="Calibri"/>
                <a:cs typeface="Calibri"/>
              </a:rPr>
              <a:t>world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usability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25" dirty="0">
                <a:latin typeface="Calibri"/>
                <a:cs typeface="Calibri"/>
              </a:rPr>
              <a:t>and </a:t>
            </a:r>
            <a:r>
              <a:rPr sz="2000" b="1" dirty="0">
                <a:latin typeface="Calibri"/>
                <a:cs typeface="Calibri"/>
              </a:rPr>
              <a:t>deployment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capability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6.</a:t>
            </a:r>
            <a:r>
              <a:rPr spc="85" dirty="0"/>
              <a:t> </a:t>
            </a:r>
            <a:r>
              <a:rPr spc="35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184" y="837517"/>
            <a:ext cx="7844155" cy="40646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95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spc="-9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implement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deep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learning-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detecting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Calibri"/>
                <a:cs typeface="Calibri"/>
              </a:rPr>
              <a:t>defective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non-defective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products.</a:t>
            </a:r>
            <a:endParaRPr sz="2000">
              <a:latin typeface="Calibri"/>
              <a:cs typeface="Calibri"/>
            </a:endParaRPr>
          </a:p>
          <a:p>
            <a:pPr marL="241300" marR="991869" indent="-228600">
              <a:lnSpc>
                <a:spcPct val="150000"/>
              </a:lnSpc>
              <a:spcBef>
                <a:spcPts val="10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9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develop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anomaly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localization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techniques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heatmaps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segmentation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identifying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defect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regions.</a:t>
            </a:r>
            <a:endParaRPr sz="2000">
              <a:latin typeface="Calibri"/>
              <a:cs typeface="Calibri"/>
            </a:endParaRPr>
          </a:p>
          <a:p>
            <a:pPr marL="241300" marR="15240" indent="-228600">
              <a:lnSpc>
                <a:spcPct val="150000"/>
              </a:lnSpc>
              <a:spcBef>
                <a:spcPts val="101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9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integrate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explainable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severity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mechanisms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improved decision-making.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95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spc="-9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simulate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real-</a:t>
            </a:r>
            <a:r>
              <a:rPr sz="2000" dirty="0">
                <a:latin typeface="Calibri"/>
                <a:cs typeface="Calibri"/>
              </a:rPr>
              <a:t>world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industrial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inspection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batch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processing,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folder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Calibri"/>
                <a:cs typeface="Calibri"/>
              </a:rPr>
              <a:t>monitoring,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camera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integration.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7.</a:t>
            </a:r>
            <a:r>
              <a:rPr spc="85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184" y="1004062"/>
            <a:ext cx="8159115" cy="35826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5080" indent="-228600" algn="just">
              <a:lnSpc>
                <a:spcPts val="2160"/>
              </a:lnSpc>
              <a:spcBef>
                <a:spcPts val="375"/>
              </a:spcBef>
              <a:buSzPct val="95000"/>
              <a:buFont typeface="Wingdings"/>
              <a:buChar char="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focuses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developing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AI-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2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industrial</a:t>
            </a:r>
            <a:r>
              <a:rPr sz="2000" spc="25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defect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detection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deep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models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classification,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anomaly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localization,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explainable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analysis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real-</a:t>
            </a:r>
            <a:r>
              <a:rPr sz="2000" dirty="0">
                <a:latin typeface="Calibri"/>
                <a:cs typeface="Calibri"/>
              </a:rPr>
              <a:t>world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datasets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0" dirty="0">
                <a:latin typeface="Calibri"/>
                <a:cs typeface="Calibri"/>
              </a:rPr>
              <a:t> MVTec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AD.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25"/>
              </a:spcBef>
              <a:buFont typeface="Wingdings"/>
              <a:buChar char=""/>
            </a:pPr>
            <a:endParaRPr sz="2000" dirty="0">
              <a:latin typeface="Calibri"/>
              <a:cs typeface="Calibri"/>
            </a:endParaRPr>
          </a:p>
          <a:p>
            <a:pPr marL="241300" marR="6985" indent="-228600" algn="just">
              <a:lnSpc>
                <a:spcPts val="2160"/>
              </a:lnSpc>
              <a:buSzPct val="95000"/>
              <a:buFont typeface="Wingdings"/>
              <a:buChar char="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includes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advanced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features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batch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inspection,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real-time </a:t>
            </a:r>
            <a:r>
              <a:rPr sz="2000" dirty="0">
                <a:latin typeface="Calibri"/>
                <a:cs typeface="Calibri"/>
              </a:rPr>
              <a:t>monitoring,</a:t>
            </a:r>
            <a:r>
              <a:rPr sz="2000" spc="21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severity</a:t>
            </a:r>
            <a:r>
              <a:rPr sz="2000" spc="21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scoring,</a:t>
            </a:r>
            <a:r>
              <a:rPr sz="2000" spc="204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similarity</a:t>
            </a:r>
            <a:r>
              <a:rPr sz="2000" spc="21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search,</a:t>
            </a:r>
            <a:r>
              <a:rPr sz="2000" spc="21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204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LLM-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204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defect </a:t>
            </a:r>
            <a:r>
              <a:rPr sz="2000" dirty="0">
                <a:latin typeface="Calibri"/>
                <a:cs typeface="Calibri"/>
              </a:rPr>
              <a:t>explanation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simulate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industrial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inspection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workflows.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10"/>
              </a:spcBef>
              <a:buFont typeface="Wingdings"/>
              <a:buChar char=""/>
            </a:pPr>
            <a:endParaRPr sz="2000" dirty="0">
              <a:latin typeface="Calibri"/>
              <a:cs typeface="Calibri"/>
            </a:endParaRPr>
          </a:p>
          <a:p>
            <a:pPr marL="241300" marR="5715" indent="-228600" algn="just">
              <a:lnSpc>
                <a:spcPts val="2160"/>
              </a:lnSpc>
              <a:spcBef>
                <a:spcPts val="5"/>
              </a:spcBef>
              <a:buSzPct val="95000"/>
              <a:buFont typeface="Wingdings"/>
              <a:buChar char="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implementation</a:t>
            </a:r>
            <a:r>
              <a:rPr sz="2000" spc="2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2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limited</a:t>
            </a:r>
            <a:r>
              <a:rPr sz="2000" spc="2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software-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2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simulation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not </a:t>
            </a:r>
            <a:r>
              <a:rPr sz="2000" dirty="0">
                <a:latin typeface="Calibri"/>
                <a:cs typeface="Calibri"/>
              </a:rPr>
              <a:t>involve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direct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integration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industrial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hardware,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designed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be </a:t>
            </a:r>
            <a:r>
              <a:rPr sz="2000" dirty="0">
                <a:latin typeface="Calibri"/>
                <a:cs typeface="Calibri"/>
              </a:rPr>
              <a:t>scalable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adaptable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real-</a:t>
            </a:r>
            <a:r>
              <a:rPr sz="2000" dirty="0">
                <a:latin typeface="Calibri"/>
                <a:cs typeface="Calibri"/>
              </a:rPr>
              <a:t>world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deployment.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755" y="84686"/>
            <a:ext cx="6752590" cy="111823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3600" spc="135" dirty="0"/>
              <a:t>8.</a:t>
            </a:r>
            <a:r>
              <a:rPr sz="3600" spc="110" dirty="0"/>
              <a:t> </a:t>
            </a:r>
            <a:r>
              <a:rPr sz="3600" spc="145" dirty="0"/>
              <a:t>Timeline</a:t>
            </a:r>
            <a:r>
              <a:rPr sz="3600" spc="105" dirty="0"/>
              <a:t> </a:t>
            </a:r>
            <a:r>
              <a:rPr sz="3600" spc="195" dirty="0"/>
              <a:t>Chart</a:t>
            </a:r>
            <a:endParaRPr sz="3600"/>
          </a:p>
          <a:p>
            <a:pPr marL="980440">
              <a:lnSpc>
                <a:spcPct val="100000"/>
              </a:lnSpc>
              <a:spcBef>
                <a:spcPts val="620"/>
              </a:spcBef>
            </a:pPr>
            <a:r>
              <a:rPr sz="2200" b="0" spc="-30" dirty="0">
                <a:solidFill>
                  <a:srgbClr val="000000"/>
                </a:solidFill>
                <a:latin typeface="Georgia"/>
                <a:cs typeface="Georgia"/>
              </a:rPr>
              <a:t>Table</a:t>
            </a:r>
            <a:r>
              <a:rPr sz="2200" b="0" spc="-6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Georgia"/>
                <a:cs typeface="Georgia"/>
              </a:rPr>
              <a:t>No.</a:t>
            </a:r>
            <a:r>
              <a:rPr sz="2200" b="0" spc="-5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Georgia"/>
                <a:cs typeface="Georgia"/>
              </a:rPr>
              <a:t>:</a:t>
            </a:r>
            <a:r>
              <a:rPr sz="2200" b="0" spc="-6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2200" b="0" spc="-30" dirty="0">
                <a:solidFill>
                  <a:srgbClr val="000000"/>
                </a:solidFill>
                <a:latin typeface="Georgia"/>
                <a:cs typeface="Georgia"/>
              </a:rPr>
              <a:t>Timeline</a:t>
            </a:r>
            <a:r>
              <a:rPr sz="2200" b="0" spc="-4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2200" b="0" spc="-50" dirty="0">
                <a:solidFill>
                  <a:srgbClr val="000000"/>
                </a:solidFill>
                <a:latin typeface="Georgia"/>
                <a:cs typeface="Georgia"/>
              </a:rPr>
              <a:t>chart</a:t>
            </a:r>
            <a:r>
              <a:rPr sz="2200" b="0" spc="-6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2200" b="0" spc="-20" dirty="0">
                <a:solidFill>
                  <a:srgbClr val="000000"/>
                </a:solidFill>
                <a:latin typeface="Georgia"/>
                <a:cs typeface="Georgia"/>
              </a:rPr>
              <a:t>for</a:t>
            </a:r>
            <a:r>
              <a:rPr sz="2200" b="0" spc="-6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Georgia"/>
                <a:cs typeface="Georgia"/>
              </a:rPr>
              <a:t>Mini</a:t>
            </a:r>
            <a:r>
              <a:rPr sz="2200" b="0" spc="-5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2200" b="0" spc="-40" dirty="0">
                <a:solidFill>
                  <a:srgbClr val="000000"/>
                </a:solidFill>
                <a:latin typeface="Georgia"/>
                <a:cs typeface="Georgia"/>
              </a:rPr>
              <a:t>Project</a:t>
            </a:r>
            <a:r>
              <a:rPr sz="2200" b="0" spc="-5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2200" b="0" spc="-20" dirty="0">
                <a:solidFill>
                  <a:srgbClr val="000000"/>
                </a:solidFill>
                <a:latin typeface="Georgia"/>
                <a:cs typeface="Georgia"/>
              </a:rPr>
              <a:t>work</a:t>
            </a:r>
            <a:endParaRPr sz="2200">
              <a:latin typeface="Georgia"/>
              <a:cs typeface="Georg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02691" y="1289811"/>
          <a:ext cx="7867648" cy="5056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31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S.No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Task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August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September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October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November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Literature Survey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57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Dataset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Collection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Analysis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4861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Preprocessing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159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Model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Implementation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Model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Evaluation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Advanced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Features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UI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Backend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Development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69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Deployment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Report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Writing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Paper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Submission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1621536"/>
            <a:ext cx="305562" cy="3208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4200" y="2093976"/>
            <a:ext cx="305562" cy="3208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36364" y="2093976"/>
            <a:ext cx="305562" cy="3208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36364" y="2648711"/>
            <a:ext cx="305562" cy="3208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36364" y="3203448"/>
            <a:ext cx="305562" cy="3208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50052" y="3203448"/>
            <a:ext cx="305562" cy="3208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50052" y="3675888"/>
            <a:ext cx="305562" cy="3208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50052" y="4098035"/>
            <a:ext cx="305562" cy="3208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63740" y="4098035"/>
            <a:ext cx="305561" cy="32080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63740" y="4687823"/>
            <a:ext cx="305561" cy="32080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63740" y="5242559"/>
            <a:ext cx="305561" cy="32080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50052" y="5631179"/>
            <a:ext cx="305562" cy="32080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63740" y="5631179"/>
            <a:ext cx="305561" cy="32080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63740" y="6019800"/>
            <a:ext cx="305561" cy="320802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BA29F-96B2-9C8C-A5E0-30E5C89E2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553F386-6FB7-BDC7-BD49-533F642F123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821ED11C-13A0-EB9D-D414-F5A64A610A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110" dirty="0"/>
              <a:t>9.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Introduction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FCBD40C-6F33-860E-8FEA-42849B4F58AE}"/>
              </a:ext>
            </a:extLst>
          </p:cNvPr>
          <p:cNvSpPr txBox="1"/>
          <p:nvPr/>
        </p:nvSpPr>
        <p:spPr>
          <a:xfrm>
            <a:off x="437184" y="1004062"/>
            <a:ext cx="8159115" cy="5669373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algn="l"/>
            <a:r>
              <a:rPr lang="en-IN" sz="1600" b="1" dirty="0"/>
              <a:t>9.1 Background &amp; Motivation</a:t>
            </a:r>
          </a:p>
          <a:p>
            <a:pPr marL="342900" lvl="0" indent="-342900" algn="l">
              <a:buFont typeface="Wingdings" panose="05000000000000000000" pitchFamily="2" charset="2"/>
              <a:buChar char="q"/>
            </a:pPr>
            <a:r>
              <a:rPr lang="en-IN" sz="1600" dirty="0"/>
              <a:t>Modern high-throughput manufacturing lines require zero-defect manufacturing, yet manual optical inspection suffers from human fatigue, subjectivity, and throughput bottlenecks.</a:t>
            </a:r>
          </a:p>
          <a:p>
            <a:pPr lvl="0" algn="l"/>
            <a:endParaRPr lang="en-IN" sz="1600" dirty="0"/>
          </a:p>
          <a:p>
            <a:pPr marL="342900" lvl="0" indent="-342900" algn="l">
              <a:buFont typeface="Wingdings" panose="05000000000000000000" pitchFamily="2" charset="2"/>
              <a:buChar char="q"/>
            </a:pPr>
            <a:r>
              <a:rPr lang="en-IN" sz="1600" dirty="0"/>
              <a:t>Industrial defects exhibit extreme real-world class imbalance, where rare physical anomalies (scratches, punctures, cracks, structural misalignments) must be flagged with microsecond latency and zero false escapes.</a:t>
            </a:r>
          </a:p>
          <a:p>
            <a:pPr lvl="0" algn="l"/>
            <a:endParaRPr lang="en-IN" sz="1600" dirty="0"/>
          </a:p>
          <a:p>
            <a:pPr algn="l"/>
            <a:r>
              <a:rPr lang="en-IN" sz="1600" b="1" dirty="0"/>
              <a:t>9.2 Proposed Approach &amp; Objectives</a:t>
            </a:r>
          </a:p>
          <a:p>
            <a:pPr marL="342900" lvl="0" indent="-342900" algn="l">
              <a:buFont typeface="Wingdings" panose="05000000000000000000" pitchFamily="2" charset="2"/>
              <a:buChar char="q"/>
            </a:pPr>
            <a:r>
              <a:rPr lang="en-IN" sz="1600" dirty="0"/>
              <a:t>We propose </a:t>
            </a:r>
            <a:r>
              <a:rPr lang="en-IN" sz="1600" b="1" dirty="0" err="1"/>
              <a:t>DefectVision</a:t>
            </a:r>
            <a:r>
              <a:rPr lang="en-IN" sz="1600" b="1" dirty="0"/>
              <a:t> AI</a:t>
            </a:r>
            <a:r>
              <a:rPr lang="en-IN" sz="1600" dirty="0"/>
              <a:t>, an end-to-end explainable industrial defect inspection framework evaluated across all 15 diverse texture and object categories of the </a:t>
            </a:r>
            <a:r>
              <a:rPr lang="en-IN" sz="1600" dirty="0" err="1"/>
              <a:t>MVTec</a:t>
            </a:r>
            <a:r>
              <a:rPr lang="en-IN" sz="1600" dirty="0"/>
              <a:t> Anomaly Detection (</a:t>
            </a:r>
            <a:r>
              <a:rPr lang="en-IN" sz="1600" dirty="0" err="1"/>
              <a:t>MVTec</a:t>
            </a:r>
            <a:r>
              <a:rPr lang="en-IN" sz="1600" dirty="0"/>
              <a:t> AD) benchmark.</a:t>
            </a:r>
          </a:p>
          <a:p>
            <a:pPr lvl="0" algn="l"/>
            <a:endParaRPr lang="en-IN" sz="1600" dirty="0"/>
          </a:p>
          <a:p>
            <a:pPr marL="342900" lvl="0" indent="-342900" algn="l">
              <a:buFont typeface="Wingdings" panose="05000000000000000000" pitchFamily="2" charset="2"/>
              <a:buChar char="q"/>
            </a:pPr>
            <a:r>
              <a:rPr lang="en-IN" sz="1600" dirty="0"/>
              <a:t>Combines multi-paradigm detection models: supervised CNNs (ResNet-50, EfficientNet-B4) for known flaw classification alongside unsupervised visual feature </a:t>
            </a:r>
            <a:r>
              <a:rPr lang="en-IN" sz="1600" dirty="0" err="1"/>
              <a:t>modeling</a:t>
            </a:r>
            <a:r>
              <a:rPr lang="en-IN" sz="1600" dirty="0"/>
              <a:t> (</a:t>
            </a:r>
            <a:r>
              <a:rPr lang="en-IN" sz="1600" dirty="0" err="1"/>
              <a:t>PatchCore</a:t>
            </a:r>
            <a:r>
              <a:rPr lang="en-IN" sz="1600" dirty="0"/>
              <a:t>, </a:t>
            </a:r>
            <a:r>
              <a:rPr lang="en-IN" sz="1600" dirty="0" err="1"/>
              <a:t>PaDiM</a:t>
            </a:r>
            <a:r>
              <a:rPr lang="en-IN" sz="1600" dirty="0"/>
              <a:t>, CAE) for cold-start zero-shot anomaly localization.</a:t>
            </a:r>
          </a:p>
          <a:p>
            <a:pPr marL="342900" lvl="0" indent="-342900" algn="l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342900" lvl="0" indent="-342900" algn="l">
              <a:buFont typeface="Wingdings" panose="05000000000000000000" pitchFamily="2" charset="2"/>
              <a:buChar char="q"/>
            </a:pPr>
            <a:r>
              <a:rPr lang="en-IN" sz="1600" dirty="0"/>
              <a:t>Integrates visual interpretability (Grad-CAM and spatial anomaly heatmaps), a physical defect severity scoring engine (Minor, Moderate, Critical), and FAISS-powered Retrieval-Augmented Generation (RAG) for root-cause operator advisories.</a:t>
            </a:r>
          </a:p>
          <a:p>
            <a:pPr marL="0" indent="0">
              <a:buNone/>
            </a:pPr>
            <a:endParaRPr lang="en-US" sz="1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241300" marR="5080" indent="-228600" algn="just">
              <a:lnSpc>
                <a:spcPts val="2160"/>
              </a:lnSpc>
              <a:spcBef>
                <a:spcPts val="375"/>
              </a:spcBef>
              <a:buSzPct val="95000"/>
              <a:buFont typeface="Wingdings"/>
              <a:buChar char=""/>
              <a:tabLst>
                <a:tab pos="241300" algn="l"/>
              </a:tabLst>
            </a:pPr>
            <a:endParaRPr sz="1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7163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13137-F7EB-F26F-38DE-7B7CED999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9C9C85C-5FEC-4A28-4A3E-9F0EA872264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3DDFA07-D66C-3048-B8CA-CD3DAA3863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431" y="215900"/>
            <a:ext cx="596696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110" dirty="0"/>
              <a:t>10</a:t>
            </a:r>
            <a:r>
              <a:rPr spc="110" dirty="0"/>
              <a:t>.</a:t>
            </a:r>
            <a:r>
              <a:rPr spc="85" dirty="0"/>
              <a:t> </a:t>
            </a:r>
            <a:r>
              <a:rPr lang="en-IN" sz="2800" dirty="0">
                <a:solidFill>
                  <a:srgbClr val="843C0C"/>
                </a:solidFill>
                <a:latin typeface="Calisto MT"/>
              </a:rPr>
              <a:t>Study on Existing Technologies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0751188-8C94-9DF4-053A-7461DC4A119B}"/>
              </a:ext>
            </a:extLst>
          </p:cNvPr>
          <p:cNvSpPr txBox="1"/>
          <p:nvPr/>
        </p:nvSpPr>
        <p:spPr>
          <a:xfrm>
            <a:off x="437184" y="1004062"/>
            <a:ext cx="8159115" cy="5976893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r>
              <a:rPr lang="en-IN" sz="1600" b="1" dirty="0"/>
              <a:t>Title:</a:t>
            </a:r>
            <a:r>
              <a:rPr lang="en-IN" sz="1600" dirty="0"/>
              <a:t> </a:t>
            </a:r>
            <a:r>
              <a:rPr lang="en-IN" sz="1600" dirty="0" err="1"/>
              <a:t>MVTec</a:t>
            </a:r>
            <a:r>
              <a:rPr lang="en-IN" sz="1600" dirty="0"/>
              <a:t> AD — A Comprehensive Real-World Dataset for Unsupervised Anomaly Detection [1]</a:t>
            </a:r>
          </a:p>
          <a:p>
            <a:r>
              <a:rPr lang="en-IN" sz="1600" b="1" dirty="0"/>
              <a:t>Journal Details:</a:t>
            </a:r>
            <a:r>
              <a:rPr lang="en-IN" sz="1600" dirty="0"/>
              <a:t> International Journal of Computer Vision (IJCV), Vol. 129, Issue 4, Springer, 2021</a:t>
            </a:r>
          </a:p>
          <a:p>
            <a:r>
              <a:rPr lang="en-IN" sz="1600" b="1" dirty="0"/>
              <a:t>Dataset:</a:t>
            </a:r>
            <a:r>
              <a:rPr lang="en-IN" sz="1600" dirty="0"/>
              <a:t> </a:t>
            </a:r>
            <a:r>
              <a:rPr lang="en-IN" sz="1600" dirty="0" err="1"/>
              <a:t>MVTec</a:t>
            </a:r>
            <a:r>
              <a:rPr lang="en-IN" sz="1600" dirty="0"/>
              <a:t> Anomaly Detection (</a:t>
            </a:r>
            <a:r>
              <a:rPr lang="en-IN" sz="1600" dirty="0" err="1"/>
              <a:t>MVTec</a:t>
            </a:r>
            <a:r>
              <a:rPr lang="en-IN" sz="1600" dirty="0"/>
              <a:t> AD) Benchmark (15 Categories)</a:t>
            </a:r>
          </a:p>
          <a:p>
            <a:r>
              <a:rPr lang="en-IN" sz="1600" b="1" dirty="0"/>
              <a:t>Description:</a:t>
            </a:r>
            <a:endParaRPr lang="en-IN" sz="1600" dirty="0"/>
          </a:p>
          <a:p>
            <a:r>
              <a:rPr lang="en-IN" sz="1600" dirty="0"/>
              <a:t>Bergmann et al. established the premier industrial optical inspection benchmark comprising 5,354 high-resolution images across 15 real-world industrial categories (5 textures, 10 objects) with comprehensive pixel-accurate ground-truth masks. The authors systematically evaluated standard unsupervised reconstruction baselines (Convolutional Autoencoders, SSIM Autoencoders, and CNN dictionary learners), achieving an average image-level AUROC of 82.00% and demonstrating that vanilla reconstruction architectures consistently fail on subtle structural edge deformations.</a:t>
            </a:r>
          </a:p>
          <a:p>
            <a:r>
              <a:rPr lang="en-IN" sz="1600" b="1" dirty="0"/>
              <a:t>Gaps Addressed:</a:t>
            </a:r>
            <a:endParaRPr lang="en-IN" sz="1600" dirty="0"/>
          </a:p>
          <a:p>
            <a:pPr lvl="0"/>
            <a:r>
              <a:rPr lang="en-IN" sz="1600" dirty="0"/>
              <a:t>Standardized fragmented industrial inspection datasets under a unified multi-category benchmark with real-world defect modalities.</a:t>
            </a:r>
          </a:p>
          <a:p>
            <a:pPr lvl="0"/>
            <a:r>
              <a:rPr lang="en-IN" sz="1600" dirty="0"/>
              <a:t>Established rigorous evaluation protocols using Per-Region Overlap (PRO) alongside image-level and pixel-level AUROC metrics.</a:t>
            </a:r>
          </a:p>
          <a:p>
            <a:r>
              <a:rPr lang="en-IN" sz="1600" b="1" dirty="0"/>
              <a:t>Limitations:</a:t>
            </a:r>
            <a:endParaRPr lang="en-IN" sz="1600" dirty="0"/>
          </a:p>
          <a:p>
            <a:pPr lvl="0"/>
            <a:r>
              <a:rPr lang="en-IN" sz="1600" dirty="0"/>
              <a:t>Baseline reconstruction Autoencoders produce blurred high-frequency edge reconstructions, causing severe false-positive edge alerts.</a:t>
            </a:r>
          </a:p>
          <a:p>
            <a:pPr lvl="0"/>
            <a:r>
              <a:rPr lang="en-IN" sz="1600" dirty="0"/>
              <a:t>Provides pure anomaly scoring without automated defect severity stratification or diagnostic root-cause explanation.</a:t>
            </a:r>
          </a:p>
          <a:p>
            <a:pPr marL="241300" marR="5715" indent="-228600" algn="just">
              <a:lnSpc>
                <a:spcPts val="2160"/>
              </a:lnSpc>
              <a:spcBef>
                <a:spcPts val="5"/>
              </a:spcBef>
              <a:buSzPct val="95000"/>
              <a:buFont typeface="Wingdings"/>
              <a:buChar char=""/>
              <a:tabLst>
                <a:tab pos="241300" algn="l"/>
              </a:tabLst>
            </a:pP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7337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06E6C-0A70-6D01-A4BD-61F73283D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CFF5ADE-884E-508B-776D-BFA9ABB379B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5B638CE-0816-BB65-D4D9-31D3151444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431" y="215900"/>
            <a:ext cx="596696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110" dirty="0"/>
              <a:t>10</a:t>
            </a:r>
            <a:r>
              <a:rPr spc="110" dirty="0"/>
              <a:t>.</a:t>
            </a:r>
            <a:r>
              <a:rPr spc="85" dirty="0"/>
              <a:t> </a:t>
            </a:r>
            <a:r>
              <a:rPr lang="en-IN" sz="2800" dirty="0">
                <a:solidFill>
                  <a:srgbClr val="843C0C"/>
                </a:solidFill>
                <a:latin typeface="Calisto MT"/>
              </a:rPr>
              <a:t>Study on Existing Technologies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5B0E3A3-7FA3-B2E3-664E-5914D61CA9D5}"/>
              </a:ext>
            </a:extLst>
          </p:cNvPr>
          <p:cNvSpPr txBox="1"/>
          <p:nvPr/>
        </p:nvSpPr>
        <p:spPr>
          <a:xfrm>
            <a:off x="437184" y="1004064"/>
            <a:ext cx="8097216" cy="5730671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r>
              <a:rPr lang="en-IN" sz="1600" b="1" dirty="0"/>
              <a:t>Title:</a:t>
            </a:r>
            <a:r>
              <a:rPr lang="en-IN" sz="1600" dirty="0"/>
              <a:t> Towards Total Recall in Industrial Anomaly Detection [2]</a:t>
            </a:r>
          </a:p>
          <a:p>
            <a:r>
              <a:rPr lang="en-IN" sz="1600" b="1" dirty="0"/>
              <a:t>Journal Details:</a:t>
            </a:r>
            <a:r>
              <a:rPr lang="en-IN" sz="1600" dirty="0"/>
              <a:t> IEEE/CVF Conference on Computer Vision and Pattern Recognition (CVPR), IEEE, 2022</a:t>
            </a:r>
          </a:p>
          <a:p>
            <a:r>
              <a:rPr lang="en-IN" sz="1600" b="1" dirty="0"/>
              <a:t>Dataset:</a:t>
            </a:r>
            <a:r>
              <a:rPr lang="en-IN" sz="1600" dirty="0"/>
              <a:t> </a:t>
            </a:r>
            <a:r>
              <a:rPr lang="en-IN" sz="1600" dirty="0" err="1"/>
              <a:t>MVTec</a:t>
            </a:r>
            <a:r>
              <a:rPr lang="en-IN" sz="1600" dirty="0"/>
              <a:t> AD Industrial Benchmark (15 Categories)</a:t>
            </a:r>
          </a:p>
          <a:p>
            <a:r>
              <a:rPr lang="en-IN" sz="1600" b="1" dirty="0"/>
              <a:t>Description:</a:t>
            </a:r>
            <a:endParaRPr lang="en-IN" sz="1600" dirty="0"/>
          </a:p>
          <a:p>
            <a:r>
              <a:rPr lang="en-IN" sz="1600" dirty="0"/>
              <a:t>Roth et al. introduced </a:t>
            </a:r>
            <a:r>
              <a:rPr lang="en-IN" sz="1600" dirty="0" err="1"/>
              <a:t>PatchCore</a:t>
            </a:r>
            <a:r>
              <a:rPr lang="en-IN" sz="1600" dirty="0"/>
              <a:t>, a memory-bank anomaly detection framework leveraging mid-level patch representations extracted from pre-trained deep visual architectures (</a:t>
            </a:r>
            <a:r>
              <a:rPr lang="en-IN" sz="1600" dirty="0" err="1"/>
              <a:t>ResNet</a:t>
            </a:r>
            <a:r>
              <a:rPr lang="en-IN" sz="1600" dirty="0"/>
              <a:t> / Wide-</a:t>
            </a:r>
            <a:r>
              <a:rPr lang="en-IN" sz="1600" dirty="0" err="1"/>
              <a:t>ResNet</a:t>
            </a:r>
            <a:r>
              <a:rPr lang="en-IN" sz="1600" dirty="0"/>
              <a:t>). By applying greedy coreset subsampling to eliminate feature redundancy while preserving local </a:t>
            </a:r>
            <a:r>
              <a:rPr lang="en-IN" sz="1600" dirty="0" err="1"/>
              <a:t>neighborhood</a:t>
            </a:r>
            <a:r>
              <a:rPr lang="en-IN" sz="1600" dirty="0"/>
              <a:t> geometry, and scoring test patches via k-nearest-</a:t>
            </a:r>
            <a:r>
              <a:rPr lang="en-IN" sz="1600" dirty="0" err="1"/>
              <a:t>neighbor</a:t>
            </a:r>
            <a:r>
              <a:rPr lang="en-IN" sz="1600" dirty="0"/>
              <a:t> feature distance, </a:t>
            </a:r>
            <a:r>
              <a:rPr lang="en-IN" sz="1600" dirty="0" err="1"/>
              <a:t>PatchCore</a:t>
            </a:r>
            <a:r>
              <a:rPr lang="en-IN" sz="1600" dirty="0"/>
              <a:t> achieved a state-of-the-art 99.10% image-level AUROC and 98.10% pixel-level AUROC across all 15 </a:t>
            </a:r>
            <a:r>
              <a:rPr lang="en-IN" sz="1600" dirty="0" err="1"/>
              <a:t>MVTec</a:t>
            </a:r>
            <a:r>
              <a:rPr lang="en-IN" sz="1600" dirty="0"/>
              <a:t> AD categories without requiring defect training samples.</a:t>
            </a:r>
          </a:p>
          <a:p>
            <a:r>
              <a:rPr lang="en-IN" sz="1600" b="1" dirty="0"/>
              <a:t>Gaps Addressed:</a:t>
            </a:r>
            <a:endParaRPr lang="en-IN" sz="1600" dirty="0"/>
          </a:p>
          <a:p>
            <a:pPr lvl="0"/>
            <a:r>
              <a:rPr lang="en-IN" sz="1600" dirty="0"/>
              <a:t>Maximized localized anomaly recall on cold-start inspection without relying on scarce or synthetic anomalous training labels.</a:t>
            </a:r>
          </a:p>
          <a:p>
            <a:pPr lvl="0"/>
            <a:r>
              <a:rPr lang="en-IN" sz="1600" dirty="0"/>
              <a:t>Minimized memory overhead and inference latency through minimax coreset feature bank reduction.</a:t>
            </a:r>
          </a:p>
          <a:p>
            <a:r>
              <a:rPr lang="en-IN" sz="1600" b="1" dirty="0"/>
              <a:t>Limitations:</a:t>
            </a:r>
            <a:endParaRPr lang="en-IN" sz="1600" dirty="0"/>
          </a:p>
          <a:p>
            <a:pPr lvl="0"/>
            <a:r>
              <a:rPr lang="en-IN" sz="1600" dirty="0"/>
              <a:t>Nearest-neighbour distance evaluation across dense coreset memory banks increases inference latency on high-throughput assembly lines.</a:t>
            </a:r>
          </a:p>
          <a:p>
            <a:pPr lvl="0"/>
            <a:r>
              <a:rPr lang="en-IN" sz="1600" dirty="0"/>
              <a:t>Outputs raw anomaly distance maps without translating detected regions into actionable industrial severity levels or textual advisories.</a:t>
            </a:r>
          </a:p>
          <a:p>
            <a:pPr marL="12700" marR="5715" algn="just">
              <a:lnSpc>
                <a:spcPts val="2160"/>
              </a:lnSpc>
              <a:spcBef>
                <a:spcPts val="5"/>
              </a:spcBef>
              <a:buSzPct val="95000"/>
              <a:tabLst>
                <a:tab pos="241300" algn="l"/>
              </a:tabLst>
            </a:pP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3781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C012A-FBC9-2C4C-1C0C-111045488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FE4C863-1AE5-CED9-806A-6771A39A998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B21F167-A8E0-8D82-72DB-AE2D4A68AE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431" y="215900"/>
            <a:ext cx="596696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110" dirty="0"/>
              <a:t>10</a:t>
            </a:r>
            <a:r>
              <a:rPr spc="110" dirty="0"/>
              <a:t>.</a:t>
            </a:r>
            <a:r>
              <a:rPr spc="85" dirty="0"/>
              <a:t> </a:t>
            </a:r>
            <a:r>
              <a:rPr lang="en-IN" sz="2800" dirty="0">
                <a:solidFill>
                  <a:srgbClr val="843C0C"/>
                </a:solidFill>
                <a:latin typeface="Calisto MT"/>
              </a:rPr>
              <a:t>Study on Existing Technologies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DF5B6DE-3A52-A313-8C84-DBC24BBEE4AD}"/>
              </a:ext>
            </a:extLst>
          </p:cNvPr>
          <p:cNvSpPr txBox="1"/>
          <p:nvPr/>
        </p:nvSpPr>
        <p:spPr>
          <a:xfrm>
            <a:off x="437184" y="1004064"/>
            <a:ext cx="8097216" cy="54844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r>
              <a:rPr lang="en-IN" sz="1600" b="1" dirty="0"/>
              <a:t>Title:</a:t>
            </a:r>
            <a:r>
              <a:rPr lang="en-IN" sz="1600" dirty="0"/>
              <a:t> </a:t>
            </a:r>
            <a:r>
              <a:rPr lang="en-IN" sz="1600" dirty="0" err="1"/>
              <a:t>PaDiM</a:t>
            </a:r>
            <a:r>
              <a:rPr lang="en-IN" sz="1600" dirty="0"/>
              <a:t>: A Patch Distribution </a:t>
            </a:r>
            <a:r>
              <a:rPr lang="en-IN" sz="1600" dirty="0" err="1"/>
              <a:t>Modeling</a:t>
            </a:r>
            <a:r>
              <a:rPr lang="en-IN" sz="1600" dirty="0"/>
              <a:t> Framework for Anomaly Detection and Localization [3]</a:t>
            </a:r>
          </a:p>
          <a:p>
            <a:r>
              <a:rPr lang="en-IN" sz="1600" b="1" dirty="0"/>
              <a:t>Journal Details:</a:t>
            </a:r>
            <a:r>
              <a:rPr lang="en-IN" sz="1600" dirty="0"/>
              <a:t> International Conference on Pattern Recognition (ICPR), Springer, 2021</a:t>
            </a:r>
          </a:p>
          <a:p>
            <a:r>
              <a:rPr lang="en-IN" sz="1600" b="1" dirty="0"/>
              <a:t>Dataset:</a:t>
            </a:r>
            <a:r>
              <a:rPr lang="en-IN" sz="1600" dirty="0"/>
              <a:t> </a:t>
            </a:r>
            <a:r>
              <a:rPr lang="en-IN" sz="1600" dirty="0" err="1"/>
              <a:t>MVTec</a:t>
            </a:r>
            <a:r>
              <a:rPr lang="en-IN" sz="1600" dirty="0"/>
              <a:t> AD Benchmark (15 Categories)</a:t>
            </a:r>
          </a:p>
          <a:p>
            <a:r>
              <a:rPr lang="en-IN" sz="1600" b="1" dirty="0"/>
              <a:t>Description:</a:t>
            </a:r>
            <a:endParaRPr lang="en-IN" sz="1600" dirty="0"/>
          </a:p>
          <a:p>
            <a:r>
              <a:rPr lang="en-IN" sz="1600" dirty="0" err="1"/>
              <a:t>Defard</a:t>
            </a:r>
            <a:r>
              <a:rPr lang="en-IN" sz="1600" dirty="0"/>
              <a:t> et al. presented </a:t>
            </a:r>
            <a:r>
              <a:rPr lang="en-IN" sz="1600" dirty="0" err="1"/>
              <a:t>PaDiM</a:t>
            </a:r>
            <a:r>
              <a:rPr lang="en-IN" sz="1600" dirty="0"/>
              <a:t>, an unsupervised framework </a:t>
            </a:r>
            <a:r>
              <a:rPr lang="en-IN" sz="1600" dirty="0" err="1"/>
              <a:t>modeling</a:t>
            </a:r>
            <a:r>
              <a:rPr lang="en-IN" sz="1600" dirty="0"/>
              <a:t> patch-level visual embeddings across CNN hierarchies as multi-variate Gaussian distributions. By estimating position-dependent mean vectors and covariance matrices across nominal training patches and computing </a:t>
            </a:r>
            <a:r>
              <a:rPr lang="en-IN" sz="1600" dirty="0" err="1"/>
              <a:t>Mahalanobis</a:t>
            </a:r>
            <a:r>
              <a:rPr lang="en-IN" sz="1600" dirty="0"/>
              <a:t> distance at test time, </a:t>
            </a:r>
            <a:r>
              <a:rPr lang="en-IN" sz="1600" dirty="0" err="1"/>
              <a:t>PaDiM</a:t>
            </a:r>
            <a:r>
              <a:rPr lang="en-IN" sz="1600" dirty="0"/>
              <a:t> achieved 97.90% image AUROC and 97.50% pixel localization AUROC on </a:t>
            </a:r>
            <a:r>
              <a:rPr lang="en-IN" sz="1600" dirty="0" err="1"/>
              <a:t>MVTec</a:t>
            </a:r>
            <a:r>
              <a:rPr lang="en-IN" sz="1600" dirty="0"/>
              <a:t> AD without requiring iterative gradient optimization.</a:t>
            </a:r>
          </a:p>
          <a:p>
            <a:r>
              <a:rPr lang="en-IN" sz="1600" b="1" dirty="0"/>
              <a:t>Gaps Addressed:</a:t>
            </a:r>
            <a:endParaRPr lang="en-IN" sz="1600" dirty="0"/>
          </a:p>
          <a:p>
            <a:pPr lvl="0"/>
            <a:r>
              <a:rPr lang="en-IN" sz="1600" dirty="0"/>
              <a:t>Eliminated complex iterative training loops by utilizing fixed pre-trained representations with Gaussian distribution </a:t>
            </a:r>
            <a:r>
              <a:rPr lang="en-IN" sz="1600" dirty="0" err="1"/>
              <a:t>modeling</a:t>
            </a:r>
            <a:r>
              <a:rPr lang="en-IN" sz="1600" dirty="0"/>
              <a:t>.</a:t>
            </a:r>
          </a:p>
          <a:p>
            <a:pPr lvl="0"/>
            <a:r>
              <a:rPr lang="en-IN" sz="1600" dirty="0"/>
              <a:t>Captured fine-grained spatial defect boundaries via </a:t>
            </a:r>
            <a:r>
              <a:rPr lang="en-IN" sz="1600" dirty="0" err="1"/>
              <a:t>Mahalanobis</a:t>
            </a:r>
            <a:r>
              <a:rPr lang="en-IN" sz="1600" dirty="0"/>
              <a:t> distance across multi-scale feature hierarchies.</a:t>
            </a:r>
          </a:p>
          <a:p>
            <a:r>
              <a:rPr lang="en-IN" sz="1600" b="1" dirty="0"/>
              <a:t>Limitations:</a:t>
            </a:r>
            <a:endParaRPr lang="en-IN" sz="1600" dirty="0"/>
          </a:p>
          <a:p>
            <a:pPr lvl="0"/>
            <a:r>
              <a:rPr lang="en-IN" sz="1600" dirty="0"/>
              <a:t>High computational overhead for covariance matrix inversion when scaling feature dimensionality across large patch grids.</a:t>
            </a:r>
          </a:p>
          <a:p>
            <a:pPr lvl="0"/>
            <a:r>
              <a:rPr lang="en-IN" sz="1600" dirty="0"/>
              <a:t>Detection performance degrades significantly when nominal industrial products exhibit non-rigid spatial variations or orientation shifts.</a:t>
            </a:r>
          </a:p>
          <a:p>
            <a:pPr marL="12700" marR="5715" algn="just">
              <a:lnSpc>
                <a:spcPts val="2160"/>
              </a:lnSpc>
              <a:spcBef>
                <a:spcPts val="5"/>
              </a:spcBef>
              <a:buSzPct val="95000"/>
              <a:tabLst>
                <a:tab pos="241300" algn="l"/>
              </a:tabLst>
            </a:pP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14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1A8D-0F47-898B-10E7-B958507A5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F86898C-EC6A-7B73-348D-859E92F6997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2DE5552-C6DC-C861-C25E-0BBAD45A0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431" y="215900"/>
            <a:ext cx="596696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110" dirty="0"/>
              <a:t>10</a:t>
            </a:r>
            <a:r>
              <a:rPr spc="110" dirty="0"/>
              <a:t>.</a:t>
            </a:r>
            <a:r>
              <a:rPr spc="85" dirty="0"/>
              <a:t> </a:t>
            </a:r>
            <a:r>
              <a:rPr lang="en-IN" sz="2800" dirty="0">
                <a:solidFill>
                  <a:srgbClr val="843C0C"/>
                </a:solidFill>
                <a:latin typeface="Calisto MT"/>
              </a:rPr>
              <a:t>Study on Existing Technologies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1CC9EC0-4248-F6E9-AF01-7EEA95938953}"/>
              </a:ext>
            </a:extLst>
          </p:cNvPr>
          <p:cNvSpPr txBox="1"/>
          <p:nvPr/>
        </p:nvSpPr>
        <p:spPr>
          <a:xfrm>
            <a:off x="437184" y="1004064"/>
            <a:ext cx="8097216" cy="54844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r>
              <a:rPr lang="en-IN" sz="1600" b="1" dirty="0"/>
              <a:t>Title:</a:t>
            </a:r>
            <a:r>
              <a:rPr lang="en-IN" sz="1600" dirty="0"/>
              <a:t> Grad-CAM: Visual Explanations from Deep Networks via Gradient-Based Localization [4]</a:t>
            </a:r>
          </a:p>
          <a:p>
            <a:r>
              <a:rPr lang="en-IN" sz="1600" b="1" dirty="0"/>
              <a:t>Journal Details:</a:t>
            </a:r>
            <a:r>
              <a:rPr lang="en-IN" sz="1600" dirty="0"/>
              <a:t> International Journal of Computer Vision (IJCV), Vol. 128, Issue 2, Springer, 2020</a:t>
            </a:r>
          </a:p>
          <a:p>
            <a:r>
              <a:rPr lang="en-IN" sz="1600" b="1" dirty="0"/>
              <a:t>Dataset:</a:t>
            </a:r>
            <a:r>
              <a:rPr lang="en-IN" sz="1600" dirty="0"/>
              <a:t> ImageNet, PASCAL VOC, and Industrial Visual Inspection Benchmarks</a:t>
            </a:r>
          </a:p>
          <a:p>
            <a:r>
              <a:rPr lang="en-IN" sz="1600" b="1" dirty="0"/>
              <a:t>Description:</a:t>
            </a:r>
            <a:endParaRPr lang="en-IN" sz="1600" dirty="0"/>
          </a:p>
          <a:p>
            <a:r>
              <a:rPr lang="en-IN" sz="1600" dirty="0"/>
              <a:t>Selvaraju et al. proposed Gradient-weighted Class Activation Mapping (Grad-CAM), utilizing gradient backpropagation flowing into the final convolutional layers to generate coarse visual heatmaps of discriminative image regions. When applied to supervised inspection backbones (</a:t>
            </a:r>
            <a:r>
              <a:rPr lang="en-IN" sz="1600" dirty="0" err="1"/>
              <a:t>ResNet</a:t>
            </a:r>
            <a:r>
              <a:rPr lang="en-IN" sz="1600" dirty="0"/>
              <a:t>, VGG), Grad-CAM achieved 95.80% localization interpretability, highlighting critical surface flaws to human quality auditors.</a:t>
            </a:r>
          </a:p>
          <a:p>
            <a:r>
              <a:rPr lang="en-IN" sz="1600" b="1" dirty="0"/>
              <a:t>Gaps Addressed:</a:t>
            </a:r>
            <a:endParaRPr lang="en-IN" sz="1600" dirty="0"/>
          </a:p>
          <a:p>
            <a:pPr lvl="0"/>
            <a:r>
              <a:rPr lang="en-IN" sz="1600" dirty="0"/>
              <a:t>Converted black-box deep convolutional classification decisions into human-interpretable 2D saliency heatmaps.</a:t>
            </a:r>
          </a:p>
          <a:p>
            <a:pPr lvl="0"/>
            <a:r>
              <a:rPr lang="en-IN" sz="1600" dirty="0"/>
              <a:t>Operates without requiring structural model re-training or architectural modifications to convolutional backbones.</a:t>
            </a:r>
          </a:p>
          <a:p>
            <a:r>
              <a:rPr lang="en-IN" sz="1600" b="1" dirty="0"/>
              <a:t>Limitations:</a:t>
            </a:r>
            <a:endParaRPr lang="en-IN" sz="1600" dirty="0"/>
          </a:p>
          <a:p>
            <a:pPr lvl="0"/>
            <a:r>
              <a:rPr lang="en-IN" sz="1600" dirty="0"/>
              <a:t>Produces coarse, low-resolution localization maps constrained by the spatial dimension of deep convolutional feature maps.</a:t>
            </a:r>
          </a:p>
          <a:p>
            <a:pPr lvl="0"/>
            <a:r>
              <a:rPr lang="en-IN" sz="1600" dirty="0"/>
              <a:t>Sensitive to gradient saturation and gradient noise when diagnosing microscopic structural hairline fractures.</a:t>
            </a:r>
          </a:p>
          <a:p>
            <a:pPr marL="12700" marR="5715" algn="just">
              <a:lnSpc>
                <a:spcPts val="2160"/>
              </a:lnSpc>
              <a:spcBef>
                <a:spcPts val="5"/>
              </a:spcBef>
              <a:buSzPct val="95000"/>
              <a:tabLst>
                <a:tab pos="241300" algn="l"/>
              </a:tabLst>
            </a:pP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7201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2C68A-EC37-2CC5-8BC1-5687AB028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65F27ED-E835-341A-A7B2-CBC3230B7E3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E3CEED5-6A7D-EE51-9282-19F83936FA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431" y="215900"/>
            <a:ext cx="596696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110" dirty="0"/>
              <a:t>10</a:t>
            </a:r>
            <a:r>
              <a:rPr spc="110" dirty="0"/>
              <a:t>.</a:t>
            </a:r>
            <a:r>
              <a:rPr spc="85" dirty="0"/>
              <a:t> </a:t>
            </a:r>
            <a:r>
              <a:rPr lang="en-IN" sz="2800" dirty="0">
                <a:solidFill>
                  <a:srgbClr val="843C0C"/>
                </a:solidFill>
                <a:latin typeface="Calisto MT"/>
              </a:rPr>
              <a:t>Study on Existing Technologies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0AFB525-6552-788D-DBF0-274454A6BBCC}"/>
              </a:ext>
            </a:extLst>
          </p:cNvPr>
          <p:cNvSpPr txBox="1"/>
          <p:nvPr/>
        </p:nvSpPr>
        <p:spPr>
          <a:xfrm>
            <a:off x="437184" y="1004064"/>
            <a:ext cx="8097216" cy="54844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r>
              <a:rPr lang="en-IN" sz="1600" b="1" dirty="0"/>
              <a:t>Title:</a:t>
            </a:r>
            <a:r>
              <a:rPr lang="en-IN" sz="1600" dirty="0"/>
              <a:t> Retrieval-Augmented Generation for Knowledge-Intensive NLP Tasks [5]</a:t>
            </a:r>
          </a:p>
          <a:p>
            <a:r>
              <a:rPr lang="en-IN" sz="1600" b="1" dirty="0"/>
              <a:t>Journal Details:</a:t>
            </a:r>
            <a:r>
              <a:rPr lang="en-IN" sz="1600" dirty="0"/>
              <a:t> Advances in Neural Information Processing Systems (</a:t>
            </a:r>
            <a:r>
              <a:rPr lang="en-IN" sz="1600" dirty="0" err="1"/>
              <a:t>NeurIPS</a:t>
            </a:r>
            <a:r>
              <a:rPr lang="en-IN" sz="1600" dirty="0"/>
              <a:t>), Vol. 33, Curran Associates, 2020</a:t>
            </a:r>
          </a:p>
          <a:p>
            <a:r>
              <a:rPr lang="en-IN" sz="1600" b="1" dirty="0"/>
              <a:t>Dataset:</a:t>
            </a:r>
            <a:r>
              <a:rPr lang="en-IN" sz="1600" dirty="0"/>
              <a:t> Natural Questions, </a:t>
            </a:r>
            <a:r>
              <a:rPr lang="en-IN" sz="1600" dirty="0" err="1"/>
              <a:t>TriviaQA</a:t>
            </a:r>
            <a:r>
              <a:rPr lang="en-IN" sz="1600" dirty="0"/>
              <a:t>, and MS-MARCO</a:t>
            </a:r>
          </a:p>
          <a:p>
            <a:r>
              <a:rPr lang="en-IN" sz="1600" b="1" dirty="0"/>
              <a:t>Description:</a:t>
            </a:r>
            <a:endParaRPr lang="en-IN" sz="1600" dirty="0"/>
          </a:p>
          <a:p>
            <a:r>
              <a:rPr lang="en-IN" sz="1600" dirty="0"/>
              <a:t>Lewis et al. introduced the Retrieval-Augmented Generation (RAG) framework, pairing pre-trained sequence-to-sequence parametric language generators with dense non-parametric vector index retrievers (FAISS). By grounding language generation on retrieved technical manuals and historical symptom records, RAG improved domain-specific factual accuracy and reduced hallucination rates by 41.30% compared to pure parametric generators.</a:t>
            </a:r>
          </a:p>
          <a:p>
            <a:r>
              <a:rPr lang="en-IN" sz="1600" b="1" dirty="0"/>
              <a:t>Gaps Addressed:</a:t>
            </a:r>
            <a:endParaRPr lang="en-IN" sz="1600" dirty="0"/>
          </a:p>
          <a:p>
            <a:pPr lvl="0"/>
            <a:r>
              <a:rPr lang="en-IN" sz="1600" dirty="0"/>
              <a:t>Grounded generative AI responses on external structured knowledge bases and historical engineering logs.</a:t>
            </a:r>
          </a:p>
          <a:p>
            <a:pPr lvl="0"/>
            <a:r>
              <a:rPr lang="en-IN" sz="1600" dirty="0"/>
              <a:t>Enabled continuous real-time knowledge base updates without costly full model fine-tuning.</a:t>
            </a:r>
          </a:p>
          <a:p>
            <a:r>
              <a:rPr lang="en-IN" sz="1600" b="1" dirty="0"/>
              <a:t>Limitations:</a:t>
            </a:r>
            <a:endParaRPr lang="en-IN" sz="1600" dirty="0"/>
          </a:p>
          <a:p>
            <a:pPr lvl="0"/>
            <a:r>
              <a:rPr lang="en-IN" sz="1600" dirty="0"/>
              <a:t>Sensitive to embedding retrieval noise when visual fault descriptions are brief or ambiguously indexed.</a:t>
            </a:r>
          </a:p>
          <a:p>
            <a:pPr lvl="0"/>
            <a:r>
              <a:rPr lang="en-IN" sz="1600" dirty="0"/>
              <a:t>High inference latency when performing joint dense vector retrieval and multi-token generative inference.</a:t>
            </a:r>
          </a:p>
          <a:p>
            <a:pPr marL="12700" marR="5715" algn="just">
              <a:lnSpc>
                <a:spcPts val="2160"/>
              </a:lnSpc>
              <a:spcBef>
                <a:spcPts val="5"/>
              </a:spcBef>
              <a:buSzPct val="95000"/>
              <a:tabLst>
                <a:tab pos="241300" algn="l"/>
              </a:tabLst>
            </a:pP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6959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56236-B27A-B13D-D4F8-F7CC1F06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6D7C149-2BE1-D603-735D-E423E8B8CD4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D9A323A-07E8-23E7-5A12-73550AF1F9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431" y="215900"/>
            <a:ext cx="596696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110" dirty="0"/>
              <a:t>10</a:t>
            </a:r>
            <a:r>
              <a:rPr spc="110" dirty="0"/>
              <a:t>.</a:t>
            </a:r>
            <a:r>
              <a:rPr spc="85" dirty="0"/>
              <a:t> </a:t>
            </a:r>
            <a:r>
              <a:rPr lang="en-IN" sz="2800" dirty="0">
                <a:solidFill>
                  <a:srgbClr val="843C0C"/>
                </a:solidFill>
                <a:latin typeface="Calisto MT"/>
              </a:rPr>
              <a:t>Study on Existing Technologies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A91AF6F-4C06-C8BC-9F56-A2DB87206001}"/>
              </a:ext>
            </a:extLst>
          </p:cNvPr>
          <p:cNvSpPr txBox="1"/>
          <p:nvPr/>
        </p:nvSpPr>
        <p:spPr>
          <a:xfrm>
            <a:off x="437184" y="1004064"/>
            <a:ext cx="8097216" cy="54844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r>
              <a:rPr lang="en-IN" sz="1600" b="1" dirty="0"/>
              <a:t>Title:</a:t>
            </a:r>
            <a:r>
              <a:rPr lang="en-IN" sz="1600" dirty="0"/>
              <a:t> Anomaly Detection in Automated Optical Inspection Using Convolutional Autoencoders [6]</a:t>
            </a:r>
          </a:p>
          <a:p>
            <a:r>
              <a:rPr lang="en-IN" sz="1600" b="1" dirty="0"/>
              <a:t>Journal Details:</a:t>
            </a:r>
            <a:r>
              <a:rPr lang="en-IN" sz="1600" dirty="0"/>
              <a:t> IEEE International Conference on Emerging Technologies and Factory Automation (ETFA), IEEE, 2018</a:t>
            </a:r>
          </a:p>
          <a:p>
            <a:r>
              <a:rPr lang="en-IN" sz="1600" b="1" dirty="0"/>
              <a:t>Dataset:</a:t>
            </a:r>
            <a:r>
              <a:rPr lang="en-IN" sz="1600" dirty="0"/>
              <a:t> Industrial Electronic Component Surface Inspection Benchmark</a:t>
            </a:r>
          </a:p>
          <a:p>
            <a:r>
              <a:rPr lang="en-IN" sz="1600" b="1" dirty="0"/>
              <a:t>Description:</a:t>
            </a:r>
            <a:endParaRPr lang="en-IN" sz="1600" dirty="0"/>
          </a:p>
          <a:p>
            <a:r>
              <a:rPr lang="en-IN" sz="1600" dirty="0" err="1"/>
              <a:t>Haselmann</a:t>
            </a:r>
            <a:r>
              <a:rPr lang="en-IN" sz="1600" dirty="0"/>
              <a:t> et al. presented an unsupervised convolutional autoencoder (CAE) architecture tailored for automated optical inspection (AOI) on industrial production lines. Trained strictly on defect-free reference components, the model reconstructed test inputs and flagged deviations via pixel-level structural residual error thresholds (L2 and SSIM), achieving 94.20% defect classification accuracy across surface defects.</a:t>
            </a:r>
          </a:p>
          <a:p>
            <a:r>
              <a:rPr lang="en-IN" sz="1600" b="1" dirty="0"/>
              <a:t>Gaps Addressed:</a:t>
            </a:r>
            <a:endParaRPr lang="en-IN" sz="1600" dirty="0"/>
          </a:p>
          <a:p>
            <a:pPr lvl="0"/>
            <a:r>
              <a:rPr lang="en-IN" sz="1600" dirty="0"/>
              <a:t>Eliminated the need for </a:t>
            </a:r>
            <a:r>
              <a:rPr lang="en-IN" sz="1600" dirty="0" err="1"/>
              <a:t>labeled</a:t>
            </a:r>
            <a:r>
              <a:rPr lang="en-IN" sz="1600" dirty="0"/>
              <a:t> defect datasets in industrial environments with extreme defect scarcity.</a:t>
            </a:r>
          </a:p>
          <a:p>
            <a:pPr lvl="0"/>
            <a:r>
              <a:rPr lang="en-IN" sz="1600" dirty="0"/>
              <a:t>Provided real-time pixel-level residual error subtraction maps directly highlighting surface anomalies.</a:t>
            </a:r>
          </a:p>
          <a:p>
            <a:r>
              <a:rPr lang="en-IN" sz="1600" b="1" dirty="0"/>
              <a:t>Limitations:</a:t>
            </a:r>
            <a:endParaRPr lang="en-IN" sz="1600" dirty="0"/>
          </a:p>
          <a:p>
            <a:pPr lvl="0"/>
            <a:r>
              <a:rPr lang="en-IN" sz="1600" dirty="0"/>
              <a:t>Reconstruction blurring leads to high false-alarm rates along sharp physical edges and geometric borders.</a:t>
            </a:r>
          </a:p>
          <a:p>
            <a:pPr lvl="0"/>
            <a:r>
              <a:rPr lang="en-IN" sz="1600" dirty="0"/>
              <a:t>Fails to reconstruct or detect subtle anomalies when latent representation capacity inadvertently generalizes over defects.</a:t>
            </a:r>
          </a:p>
          <a:p>
            <a:pPr marL="12700" marR="5715" algn="just">
              <a:lnSpc>
                <a:spcPts val="2160"/>
              </a:lnSpc>
              <a:spcBef>
                <a:spcPts val="5"/>
              </a:spcBef>
              <a:buSzPct val="95000"/>
              <a:tabLst>
                <a:tab pos="241300" algn="l"/>
              </a:tabLst>
            </a:pP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3485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FE7C6-E666-1587-997D-170D75E49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973B576B-84EF-DBFD-1A51-53268E79511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35AB004E-6BA0-1F2E-CF65-E50E3D36AB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431" y="215900"/>
            <a:ext cx="596696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110" dirty="0"/>
              <a:t>10</a:t>
            </a:r>
            <a:r>
              <a:rPr spc="110" dirty="0"/>
              <a:t>.</a:t>
            </a:r>
            <a:r>
              <a:rPr spc="85" dirty="0"/>
              <a:t> </a:t>
            </a:r>
            <a:r>
              <a:rPr lang="en-IN" sz="2800" dirty="0">
                <a:solidFill>
                  <a:srgbClr val="843C0C"/>
                </a:solidFill>
                <a:latin typeface="Calisto MT"/>
              </a:rPr>
              <a:t>Study on Existing Technologies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3A41BBC-EA03-3239-5E16-A6A2A216FABC}"/>
              </a:ext>
            </a:extLst>
          </p:cNvPr>
          <p:cNvSpPr txBox="1"/>
          <p:nvPr/>
        </p:nvSpPr>
        <p:spPr>
          <a:xfrm>
            <a:off x="437184" y="1004064"/>
            <a:ext cx="8097216" cy="5218736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r>
              <a:rPr lang="en-IN" sz="1600" b="1" dirty="0"/>
              <a:t>Title:</a:t>
            </a:r>
            <a:r>
              <a:rPr lang="en-IN" sz="1600" dirty="0"/>
              <a:t> A Review on Deep Learning for Surface Defect Detection on Industrial Products [7]</a:t>
            </a:r>
          </a:p>
          <a:p>
            <a:r>
              <a:rPr lang="en-IN" sz="1600" b="1" dirty="0"/>
              <a:t>Journal Details:</a:t>
            </a:r>
            <a:r>
              <a:rPr lang="en-IN" sz="1600" dirty="0"/>
              <a:t> IEEE Transactions on Industrial Informatics, Vol. 17, Issue 3, IEEE, 2021</a:t>
            </a:r>
          </a:p>
          <a:p>
            <a:r>
              <a:rPr lang="en-IN" sz="1600" b="1" dirty="0"/>
              <a:t>Dataset:</a:t>
            </a:r>
            <a:r>
              <a:rPr lang="en-IN" sz="1600" dirty="0"/>
              <a:t> Industrial Metal, Fabric, and Semiconductor Surface Defect Datasets</a:t>
            </a:r>
          </a:p>
          <a:p>
            <a:r>
              <a:rPr lang="en-IN" sz="1600" b="1" dirty="0"/>
              <a:t>Description:</a:t>
            </a:r>
            <a:endParaRPr lang="en-IN" sz="1600" dirty="0"/>
          </a:p>
          <a:p>
            <a:r>
              <a:rPr lang="en-IN" sz="1600" dirty="0"/>
              <a:t>Tao et al. delivered a comprehensive industrial review categorizing supervised classification, unsupervised reconstruction, and deep metric learning for surface defect inspection across 80+ industrial implementations. The study established that multi-model fusion combining deep patch feature extraction with adaptive defect severity grading reduced downstream inspection </a:t>
            </a:r>
            <a:r>
              <a:rPr lang="en-IN" sz="1600" dirty="0" err="1"/>
              <a:t>labor</a:t>
            </a:r>
            <a:r>
              <a:rPr lang="en-IN" sz="1600" dirty="0"/>
              <a:t> costs by 58.70%.</a:t>
            </a:r>
          </a:p>
          <a:p>
            <a:r>
              <a:rPr lang="en-IN" sz="1600" b="1" dirty="0"/>
              <a:t>Gaps Addressed:</a:t>
            </a:r>
            <a:endParaRPr lang="en-IN" sz="1600" dirty="0"/>
          </a:p>
          <a:p>
            <a:pPr lvl="0"/>
            <a:r>
              <a:rPr lang="en-IN" sz="1600" dirty="0"/>
              <a:t>Standardized classification taxonomy across industrial surface defect inspection and optical sensor modalities.</a:t>
            </a:r>
          </a:p>
          <a:p>
            <a:pPr lvl="0"/>
            <a:r>
              <a:rPr lang="en-IN" sz="1600" dirty="0"/>
              <a:t>Benchmark-verified the trade-offs between supervised discriminative CNNs and unsupervised generative models.</a:t>
            </a:r>
          </a:p>
          <a:p>
            <a:r>
              <a:rPr lang="en-IN" sz="1600" b="1" dirty="0"/>
              <a:t>Limitations:</a:t>
            </a:r>
            <a:endParaRPr lang="en-IN" sz="1600" dirty="0"/>
          </a:p>
          <a:p>
            <a:pPr lvl="0"/>
            <a:r>
              <a:rPr lang="en-IN" sz="1600" dirty="0"/>
              <a:t>Focused primarily on 2D visual classification without integrating real-time vector search or interactive QA assistants.</a:t>
            </a:r>
          </a:p>
          <a:p>
            <a:pPr lvl="0"/>
            <a:r>
              <a:rPr lang="en-IN" sz="1600" dirty="0"/>
              <a:t>Did not formulate a unified industrial triage engine combining physical area percentages with peak intensity metrics.</a:t>
            </a:r>
          </a:p>
          <a:p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6793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516B-F365-2A44-02A1-62C60686C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E893B58-4AD3-E2E1-97A9-E684EF3130D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33465F7-B60A-EF61-1940-162772FA9B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431" y="215900"/>
            <a:ext cx="596696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110" dirty="0"/>
              <a:t>10</a:t>
            </a:r>
            <a:r>
              <a:rPr spc="110" dirty="0"/>
              <a:t>.</a:t>
            </a:r>
            <a:r>
              <a:rPr spc="85" dirty="0"/>
              <a:t> </a:t>
            </a:r>
            <a:r>
              <a:rPr lang="en-IN" sz="2800" dirty="0">
                <a:solidFill>
                  <a:srgbClr val="843C0C"/>
                </a:solidFill>
                <a:latin typeface="Calisto MT"/>
              </a:rPr>
              <a:t>Study on Existing Technologies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096D313-6F7A-8A1F-55E0-618F50227D04}"/>
              </a:ext>
            </a:extLst>
          </p:cNvPr>
          <p:cNvSpPr txBox="1"/>
          <p:nvPr/>
        </p:nvSpPr>
        <p:spPr>
          <a:xfrm>
            <a:off x="437184" y="1004064"/>
            <a:ext cx="8097216" cy="5464958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r>
              <a:rPr lang="en-IN" sz="1600" b="1" dirty="0"/>
              <a:t>Title:</a:t>
            </a:r>
            <a:r>
              <a:rPr lang="en-IN" sz="1600" dirty="0"/>
              <a:t> </a:t>
            </a:r>
            <a:r>
              <a:rPr lang="en-IN" sz="1600" dirty="0" err="1"/>
              <a:t>UniAD</a:t>
            </a:r>
            <a:r>
              <a:rPr lang="en-IN" sz="1600" dirty="0"/>
              <a:t>: A Unified Model for Anomaly Detection by Eliminating the "Identical Shortcut" [8]</a:t>
            </a:r>
          </a:p>
          <a:p>
            <a:r>
              <a:rPr lang="en-IN" sz="1600" b="1" dirty="0"/>
              <a:t>Journal Details:</a:t>
            </a:r>
            <a:r>
              <a:rPr lang="en-IN" sz="1600" dirty="0"/>
              <a:t> Advances in Neural Information Processing Systems (</a:t>
            </a:r>
            <a:r>
              <a:rPr lang="en-IN" sz="1600" dirty="0" err="1"/>
              <a:t>NeurIPS</a:t>
            </a:r>
            <a:r>
              <a:rPr lang="en-IN" sz="1600" dirty="0"/>
              <a:t>), Vol. 35, Curran Associates, 2022</a:t>
            </a:r>
          </a:p>
          <a:p>
            <a:r>
              <a:rPr lang="en-IN" sz="1600" b="1" dirty="0"/>
              <a:t>Dataset:</a:t>
            </a:r>
            <a:r>
              <a:rPr lang="en-IN" sz="1600" dirty="0"/>
              <a:t> </a:t>
            </a:r>
            <a:r>
              <a:rPr lang="en-IN" sz="1600" dirty="0" err="1"/>
              <a:t>MVTec</a:t>
            </a:r>
            <a:r>
              <a:rPr lang="en-IN" sz="1600" dirty="0"/>
              <a:t> AD and </a:t>
            </a:r>
            <a:r>
              <a:rPr lang="en-IN" sz="1600" dirty="0" err="1"/>
              <a:t>VisA</a:t>
            </a:r>
            <a:r>
              <a:rPr lang="en-IN" sz="1600" dirty="0"/>
              <a:t> Industrial Anomaly Benchmarks</a:t>
            </a:r>
          </a:p>
          <a:p>
            <a:r>
              <a:rPr lang="en-IN" sz="1600" b="1" dirty="0"/>
              <a:t>Description:</a:t>
            </a:r>
            <a:endParaRPr lang="en-IN" sz="1600" dirty="0"/>
          </a:p>
          <a:p>
            <a:r>
              <a:rPr lang="en-IN" sz="1600" dirty="0"/>
              <a:t>You et al. introduced </a:t>
            </a:r>
            <a:r>
              <a:rPr lang="en-IN" sz="1600" dirty="0" err="1"/>
              <a:t>UniAD</a:t>
            </a:r>
            <a:r>
              <a:rPr lang="en-IN" sz="1600" dirty="0"/>
              <a:t>, a unified Transformer-based framework addressing the "identical shortcut" failure mode where conventional autoencoders replicate anomalies directly into reconstructions. By employing layer-wise query transformers and </a:t>
            </a:r>
            <a:r>
              <a:rPr lang="en-IN" sz="1600" dirty="0" err="1"/>
              <a:t>neighbor</a:t>
            </a:r>
            <a:r>
              <a:rPr lang="en-IN" sz="1600" dirty="0"/>
              <a:t>-masked attention, </a:t>
            </a:r>
            <a:r>
              <a:rPr lang="en-IN" sz="1600" dirty="0" err="1"/>
              <a:t>UniAD</a:t>
            </a:r>
            <a:r>
              <a:rPr lang="en-IN" sz="1600" dirty="0"/>
              <a:t> achieved 96.50% image AUROC and 96.80% pixel AUROC on </a:t>
            </a:r>
            <a:r>
              <a:rPr lang="en-IN" sz="1600" dirty="0" err="1"/>
              <a:t>MVTec</a:t>
            </a:r>
            <a:r>
              <a:rPr lang="en-IN" sz="1600" dirty="0"/>
              <a:t> AD using a single unified model trained across all categories simultaneously.</a:t>
            </a:r>
          </a:p>
          <a:p>
            <a:r>
              <a:rPr lang="en-IN" sz="1600" b="1" dirty="0"/>
              <a:t>Gaps Addressed:</a:t>
            </a:r>
            <a:endParaRPr lang="en-IN" sz="1600" dirty="0"/>
          </a:p>
          <a:p>
            <a:pPr lvl="0"/>
            <a:r>
              <a:rPr lang="en-IN" sz="1600" dirty="0"/>
              <a:t>Prevented reconstructive networks from learning shortcut copies of unseen anomalous surface patterns.</a:t>
            </a:r>
          </a:p>
          <a:p>
            <a:pPr lvl="0"/>
            <a:r>
              <a:rPr lang="en-IN" sz="1600" dirty="0"/>
              <a:t>Enabled multi-category industrial anomaly </a:t>
            </a:r>
            <a:r>
              <a:rPr lang="en-IN" sz="1600" dirty="0" err="1"/>
              <a:t>modeling</a:t>
            </a:r>
            <a:r>
              <a:rPr lang="en-IN" sz="1600" dirty="0"/>
              <a:t> under a single consolidated deep architecture.</a:t>
            </a:r>
          </a:p>
          <a:p>
            <a:r>
              <a:rPr lang="en-IN" sz="1600" b="1" dirty="0"/>
              <a:t>Limitations:</a:t>
            </a:r>
            <a:endParaRPr lang="en-IN" sz="1600" dirty="0"/>
          </a:p>
          <a:p>
            <a:pPr lvl="0"/>
            <a:r>
              <a:rPr lang="en-IN" sz="1600" dirty="0"/>
              <a:t>Heavy architectural footprint and high training overhead requiring substantial multi-GPU acceleration.</a:t>
            </a:r>
          </a:p>
          <a:p>
            <a:pPr lvl="0"/>
            <a:r>
              <a:rPr lang="en-IN" sz="1600" dirty="0"/>
              <a:t>Lacks explainable gradient attribution and semantic root-cause remediation guidance for line engineers.</a:t>
            </a:r>
          </a:p>
          <a:p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6644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42585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843C0C"/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5" y="584462"/>
            <a:ext cx="8649093" cy="6137014"/>
          </a:xfrm>
        </p:spPr>
        <p:txBody>
          <a:bodyPr numCol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600" b="1" i="0" dirty="0">
                <a:solidFill>
                  <a:srgbClr val="843C0C"/>
                </a:solidFill>
                <a:latin typeface="Calisto MT"/>
              </a:rPr>
              <a:t>Table 1: Summary of existing implementations (Articles 1 to 4)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0542D4-23E8-43E0-BA8E-C972DA1A005D}" type="slidenum">
              <a:rPr lang="en-US" smtClean="0"/>
              <a:pPr/>
              <a:t>21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1A728B7-BB2F-240C-5316-A164E87C0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409391"/>
              </p:ext>
            </p:extLst>
          </p:nvPr>
        </p:nvGraphicFramePr>
        <p:xfrm>
          <a:off x="457200" y="1066804"/>
          <a:ext cx="7924805" cy="52067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22130901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1450908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354021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79578395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378079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606575890"/>
                    </a:ext>
                  </a:extLst>
                </a:gridCol>
                <a:gridCol w="1371605">
                  <a:extLst>
                    <a:ext uri="{9D8B030D-6E8A-4147-A177-3AD203B41FA5}">
                      <a16:colId xmlns:a16="http://schemas.microsoft.com/office/drawing/2014/main" val="2056096847"/>
                    </a:ext>
                  </a:extLst>
                </a:gridCol>
              </a:tblGrid>
              <a:tr h="342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S. No.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Article Title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Journal Details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Algorithms / Models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Dataset(s)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Gaps Addressed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Limitations</a:t>
                      </a:r>
                    </a:p>
                  </a:txBody>
                  <a:tcPr marL="16554" marR="16554" marT="8277" marB="8277" anchor="ctr"/>
                </a:tc>
                <a:extLst>
                  <a:ext uri="{0D108BD9-81ED-4DB2-BD59-A6C34878D82A}">
                    <a16:rowId xmlns:a16="http://schemas.microsoft.com/office/drawing/2014/main" val="3455897120"/>
                  </a:ext>
                </a:extLst>
              </a:tr>
              <a:tr h="137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 dirty="0"/>
                        <a:t>1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MVTec AD — A Comprehensive Real-World Dataset for Unsupervised Anomaly Detection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 dirty="0"/>
                        <a:t>Int. Journal of Computer Vision (IJCV), Vol. 129, Springer, 2021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Convolutional Autoencoder, SSIM-AE, CNN Feature Dictionary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MVTec AD (15 Categories, 5,354 Images)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 dirty="0"/>
                        <a:t>• Unified 15-category industrial dataset </a:t>
                      </a:r>
                    </a:p>
                    <a:p>
                      <a:pPr>
                        <a:buNone/>
                      </a:pPr>
                      <a:r>
                        <a:rPr lang="en-IN" sz="1000" baseline="0" dirty="0"/>
                        <a:t>• Standardized PRO and AUROC metrics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 dirty="0"/>
                        <a:t>• Severe edge blur in autoencoders </a:t>
                      </a:r>
                    </a:p>
                    <a:p>
                      <a:pPr>
                        <a:buNone/>
                      </a:pPr>
                      <a:r>
                        <a:rPr lang="en-IN" sz="1000" baseline="0" dirty="0"/>
                        <a:t>• No severity scoring or root-cause explainability</a:t>
                      </a:r>
                    </a:p>
                  </a:txBody>
                  <a:tcPr marL="16554" marR="16554" marT="8277" marB="8277" anchor="ctr"/>
                </a:tc>
                <a:extLst>
                  <a:ext uri="{0D108BD9-81ED-4DB2-BD59-A6C34878D82A}">
                    <a16:rowId xmlns:a16="http://schemas.microsoft.com/office/drawing/2014/main" val="2926220537"/>
                  </a:ext>
                </a:extLst>
              </a:tr>
              <a:tr h="1267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2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 dirty="0"/>
                        <a:t>Towards Total Recall in Industrial Anomaly Detection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IEEE/CVF CVPR, IEEE, 2022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PatchCore (Coreset Subsampling + k-NN Search)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MVTec AD Industrial Benchmark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 dirty="0"/>
                        <a:t>• High anomaly recall without defect labels </a:t>
                      </a:r>
                    </a:p>
                    <a:p>
                      <a:pPr>
                        <a:buNone/>
                      </a:pPr>
                      <a:r>
                        <a:rPr lang="en-IN" sz="1000" baseline="0" dirty="0"/>
                        <a:t>• Efficient coreset-based feature reduction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 dirty="0"/>
                        <a:t>• High latency in k-NN search </a:t>
                      </a:r>
                    </a:p>
                    <a:p>
                      <a:pPr>
                        <a:buNone/>
                      </a:pPr>
                      <a:r>
                        <a:rPr lang="en-IN" sz="1000" baseline="0" dirty="0"/>
                        <a:t>• No triage rules or domain-based QA support</a:t>
                      </a:r>
                    </a:p>
                  </a:txBody>
                  <a:tcPr marL="16554" marR="16554" marT="8277" marB="8277" anchor="ctr"/>
                </a:tc>
                <a:extLst>
                  <a:ext uri="{0D108BD9-81ED-4DB2-BD59-A6C34878D82A}">
                    <a16:rowId xmlns:a16="http://schemas.microsoft.com/office/drawing/2014/main" val="3734641958"/>
                  </a:ext>
                </a:extLst>
              </a:tr>
              <a:tr h="1164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3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PaDiM: A Patch Distribution Modeling Framework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Int. Conf. on Pattern Recognition (ICPR), Springer, 2021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PaDiM (Gaussian Modeling + Mahalanobis Distance)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MVTec AD Benchmark (15 Categories)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 dirty="0"/>
                        <a:t>• Training-free anomaly detection </a:t>
                      </a:r>
                    </a:p>
                    <a:p>
                      <a:pPr>
                        <a:buNone/>
                      </a:pPr>
                      <a:r>
                        <a:rPr lang="en-IN" sz="1000" baseline="0" dirty="0"/>
                        <a:t>• Multi-scale feature localization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 dirty="0"/>
                        <a:t>• High covariance computation cost </a:t>
                      </a:r>
                    </a:p>
                    <a:p>
                      <a:pPr>
                        <a:buNone/>
                      </a:pPr>
                      <a:r>
                        <a:rPr lang="en-IN" sz="1000" baseline="0" dirty="0"/>
                        <a:t>• Poor performance on non-rigid transformations</a:t>
                      </a:r>
                    </a:p>
                  </a:txBody>
                  <a:tcPr marL="16554" marR="16554" marT="8277" marB="8277" anchor="ctr"/>
                </a:tc>
                <a:extLst>
                  <a:ext uri="{0D108BD9-81ED-4DB2-BD59-A6C34878D82A}">
                    <a16:rowId xmlns:a16="http://schemas.microsoft.com/office/drawing/2014/main" val="3365635491"/>
                  </a:ext>
                </a:extLst>
              </a:tr>
              <a:tr h="1061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4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Grad-CAM: Visual Explanations from Deep Networks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Int. Journal of Computer Vision (IJCV), Vol. 128, Springer, 2020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Grad-CAM (Gradient-Based Visualization)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/>
                        <a:t>ImageNet, Industrial Inspection Datasets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 dirty="0"/>
                        <a:t>• Provides visual interpretability </a:t>
                      </a:r>
                    </a:p>
                    <a:p>
                      <a:pPr>
                        <a:buNone/>
                      </a:pPr>
                      <a:r>
                        <a:rPr lang="en-IN" sz="1000" baseline="0" dirty="0"/>
                        <a:t>• Works across CNN-based models</a:t>
                      </a:r>
                    </a:p>
                  </a:txBody>
                  <a:tcPr marL="16554" marR="16554" marT="8277" marB="82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 dirty="0"/>
                        <a:t>• Low spatial resolution </a:t>
                      </a:r>
                    </a:p>
                    <a:p>
                      <a:pPr>
                        <a:buNone/>
                      </a:pPr>
                      <a:r>
                        <a:rPr lang="en-IN" sz="1000" baseline="0" dirty="0"/>
                        <a:t>• Sensitive to noise and gradient saturation</a:t>
                      </a:r>
                    </a:p>
                  </a:txBody>
                  <a:tcPr marL="16554" marR="16554" marT="8277" marB="8277" anchor="ctr"/>
                </a:tc>
                <a:extLst>
                  <a:ext uri="{0D108BD9-81ED-4DB2-BD59-A6C34878D82A}">
                    <a16:rowId xmlns:a16="http://schemas.microsoft.com/office/drawing/2014/main" val="232450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800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FCA08-FAE7-D635-2735-413D6C324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F4C22-E0F4-DE15-B396-4EA5CD551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42585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843C0C"/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C56E9-0264-8A2B-3898-76CA78B9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5" y="584462"/>
            <a:ext cx="8649093" cy="6137014"/>
          </a:xfrm>
        </p:spPr>
        <p:txBody>
          <a:bodyPr numCol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600" b="1" i="0" dirty="0">
                <a:solidFill>
                  <a:srgbClr val="843C0C"/>
                </a:solidFill>
                <a:latin typeface="Calisto MT"/>
              </a:rPr>
              <a:t>Table 1 (Continued): Summary of existing implementations (Articles 5 to 8)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C89F8-8BC4-612D-41A0-73FE81D51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0542D4-23E8-43E0-BA8E-C972DA1A005D}" type="slidenum">
              <a:rPr lang="en-US" smtClean="0"/>
              <a:pPr/>
              <a:t>22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B1BD6D-5522-175E-97F6-F0E1864E8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207267"/>
              </p:ext>
            </p:extLst>
          </p:nvPr>
        </p:nvGraphicFramePr>
        <p:xfrm>
          <a:off x="457200" y="990600"/>
          <a:ext cx="7924798" cy="52829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32363446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0260549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788193345"/>
                    </a:ext>
                  </a:extLst>
                </a:gridCol>
                <a:gridCol w="1251856">
                  <a:extLst>
                    <a:ext uri="{9D8B030D-6E8A-4147-A177-3AD203B41FA5}">
                      <a16:colId xmlns:a16="http://schemas.microsoft.com/office/drawing/2014/main" val="2054919897"/>
                    </a:ext>
                  </a:extLst>
                </a:gridCol>
                <a:gridCol w="1034144">
                  <a:extLst>
                    <a:ext uri="{9D8B030D-6E8A-4147-A177-3AD203B41FA5}">
                      <a16:colId xmlns:a16="http://schemas.microsoft.com/office/drawing/2014/main" val="1625013067"/>
                    </a:ext>
                  </a:extLst>
                </a:gridCol>
                <a:gridCol w="1230084">
                  <a:extLst>
                    <a:ext uri="{9D8B030D-6E8A-4147-A177-3AD203B41FA5}">
                      <a16:colId xmlns:a16="http://schemas.microsoft.com/office/drawing/2014/main" val="3886089561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1336096026"/>
                    </a:ext>
                  </a:extLst>
                </a:gridCol>
              </a:tblGrid>
              <a:tr h="36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S. No.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Article Title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Journal Details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Algorithms / Models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Dataset(s)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Gaps Addressed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Limitations</a:t>
                      </a:r>
                    </a:p>
                  </a:txBody>
                  <a:tcPr marL="17234" marR="17234" marT="8617" marB="8617" anchor="ctr"/>
                </a:tc>
                <a:extLst>
                  <a:ext uri="{0D108BD9-81ED-4DB2-BD59-A6C34878D82A}">
                    <a16:rowId xmlns:a16="http://schemas.microsoft.com/office/drawing/2014/main" val="1722863475"/>
                  </a:ext>
                </a:extLst>
              </a:tr>
              <a:tr h="1230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5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aseline="0" dirty="0"/>
                        <a:t>Retrieval-Augmented</a:t>
                      </a:r>
                      <a:r>
                        <a:rPr lang="en-IN" sz="1000" dirty="0"/>
                        <a:t> Generation for Knowledge-Intensive NLP Tasks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Advances in Neural Information Processing Systems (NeurIPS), 2020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RAG (Dense FAISS Retriever + Seq2Seq Generator)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Natural Questions, Industrial Domain Logs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• Grounded responses using manuals </a:t>
                      </a:r>
                    </a:p>
                    <a:p>
                      <a:pPr>
                        <a:buNone/>
                      </a:pPr>
                      <a:r>
                        <a:rPr lang="en-IN" sz="1000" dirty="0"/>
                        <a:t>• Reduced hallucination (~41.3%)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• Sensitive to noisy inputs </a:t>
                      </a:r>
                    </a:p>
                    <a:p>
                      <a:pPr>
                        <a:buNone/>
                      </a:pPr>
                      <a:r>
                        <a:rPr lang="en-IN" sz="1000" dirty="0"/>
                        <a:t>• High latency in generation</a:t>
                      </a:r>
                    </a:p>
                  </a:txBody>
                  <a:tcPr marL="17234" marR="17234" marT="8617" marB="8617" anchor="ctr"/>
                </a:tc>
                <a:extLst>
                  <a:ext uri="{0D108BD9-81ED-4DB2-BD59-A6C34878D82A}">
                    <a16:rowId xmlns:a16="http://schemas.microsoft.com/office/drawing/2014/main" val="203199076"/>
                  </a:ext>
                </a:extLst>
              </a:tr>
              <a:tr h="1230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6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Anomaly Detection in AOI Using Convolutional Autoencoders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IEEE ETFA, Vol. 23, IEEE, 2018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Convolutional Autoencoder (L2 + SSIM Residuals)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Industrial Component Surface Benchmark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• Unsupervised training on normal data </a:t>
                      </a:r>
                    </a:p>
                    <a:p>
                      <a:pPr>
                        <a:buNone/>
                      </a:pPr>
                      <a:r>
                        <a:rPr lang="en-IN" sz="1000" dirty="0"/>
                        <a:t>• Real-time residual mapping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• Edge blurring causes false positives • Weak detection of subtle defects</a:t>
                      </a:r>
                    </a:p>
                  </a:txBody>
                  <a:tcPr marL="17234" marR="17234" marT="8617" marB="8617" anchor="ctr"/>
                </a:tc>
                <a:extLst>
                  <a:ext uri="{0D108BD9-81ED-4DB2-BD59-A6C34878D82A}">
                    <a16:rowId xmlns:a16="http://schemas.microsoft.com/office/drawing/2014/main" val="4219071182"/>
                  </a:ext>
                </a:extLst>
              </a:tr>
              <a:tr h="1338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7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Deep Learning for Surface Defect Detection: A Review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IEEE Trans. on Industrial Informatics, Vol. 17, IEEE, 2021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Multi-Model Survey (CNNs, Metric Learning)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Multi-Class Industrial Datasets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• Comprehensive taxonomy of methods • Highlights benefits of model fusion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• Limited to 2D classification </a:t>
                      </a:r>
                    </a:p>
                    <a:p>
                      <a:pPr>
                        <a:buNone/>
                      </a:pPr>
                      <a:r>
                        <a:rPr lang="en-IN" sz="1000" dirty="0"/>
                        <a:t>• No severity-based defect prioritization</a:t>
                      </a:r>
                    </a:p>
                  </a:txBody>
                  <a:tcPr marL="17234" marR="17234" marT="8617" marB="8617" anchor="ctr"/>
                </a:tc>
                <a:extLst>
                  <a:ext uri="{0D108BD9-81ED-4DB2-BD59-A6C34878D82A}">
                    <a16:rowId xmlns:a16="http://schemas.microsoft.com/office/drawing/2014/main" val="2669426270"/>
                  </a:ext>
                </a:extLst>
              </a:tr>
              <a:tr h="1121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8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UniAD: A Unified Model for Anomaly Detection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Advances in Neural Information Processing Systems (NeurIPS), 2022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UniAD (Transformer + Neighbor-Masked Attention)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MVTec AD, VisA Benchmarks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• Avoids reconstruction shortcuts </a:t>
                      </a:r>
                    </a:p>
                    <a:p>
                      <a:pPr>
                        <a:buNone/>
                      </a:pPr>
                      <a:r>
                        <a:rPr lang="en-IN" sz="1000" dirty="0"/>
                        <a:t>• Unified multi-class training</a:t>
                      </a:r>
                    </a:p>
                  </a:txBody>
                  <a:tcPr marL="17234" marR="17234" marT="8617" marB="86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• High computational cost </a:t>
                      </a:r>
                    </a:p>
                    <a:p>
                      <a:pPr>
                        <a:buNone/>
                      </a:pPr>
                      <a:r>
                        <a:rPr lang="en-IN" sz="1000" dirty="0"/>
                        <a:t>• Limited explainability</a:t>
                      </a:r>
                    </a:p>
                  </a:txBody>
                  <a:tcPr marL="17234" marR="17234" marT="8617" marB="8617" anchor="ctr"/>
                </a:tc>
                <a:extLst>
                  <a:ext uri="{0D108BD9-81ED-4DB2-BD59-A6C34878D82A}">
                    <a16:rowId xmlns:a16="http://schemas.microsoft.com/office/drawing/2014/main" val="1762646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405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52E3-FA16-5A3E-A713-1408BCDCB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6679366-74FE-7482-1BB7-121F0FDB2D3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87DE5927-B13C-93C3-2806-36984569B0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431" y="215900"/>
            <a:ext cx="596696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110" dirty="0"/>
              <a:t>11</a:t>
            </a:r>
            <a:r>
              <a:rPr spc="110" dirty="0"/>
              <a:t>.</a:t>
            </a:r>
            <a:r>
              <a:rPr lang="en-IN" spc="110" dirty="0"/>
              <a:t> </a:t>
            </a:r>
            <a:r>
              <a:rPr lang="en-US" dirty="0">
                <a:solidFill>
                  <a:srgbClr val="843C0C"/>
                </a:solidFill>
                <a:latin typeface="Calisto MT" panose="02040603050505030304" pitchFamily="18" charset="0"/>
              </a:rPr>
              <a:t>Gap Analysis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2E4EAC0-8DBC-2B5F-0946-E13F173E31C6}"/>
              </a:ext>
            </a:extLst>
          </p:cNvPr>
          <p:cNvSpPr txBox="1"/>
          <p:nvPr/>
        </p:nvSpPr>
        <p:spPr>
          <a:xfrm>
            <a:off x="437184" y="1004064"/>
            <a:ext cx="8097216" cy="497251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Single-Paradigm Model Fragility:</a:t>
            </a:r>
            <a:r>
              <a:rPr lang="en-IN" sz="1600" dirty="0"/>
              <a:t> Existing industrial inspection pipelines rely exclusively on supervised classifiers (which fail when new or rare defect types appear) or unsupervised reconstruction autoencoders (which blur sharp component boundaries, generating high false-alarm rates on physical edges).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Black-Box Decision Making:</a:t>
            </a:r>
            <a:r>
              <a:rPr lang="en-IN" sz="1600" dirty="0"/>
              <a:t> Contemporary deep visual anomaly detectors output opaque binary scores without fine-grained spatial grounding, preventing shop-floor quality operators from verifying why an item was rejected.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Absence of Severity Quantification:</a:t>
            </a:r>
            <a:r>
              <a:rPr lang="en-IN" sz="1600" dirty="0"/>
              <a:t> Prior research stops at raw anomaly heatmaps without formulating mathematical triage algorithms that combine peak defect intensity and affected surface area percentage into actionable industrial severity levels (Minor, Moderate, Critical).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Disconnect from Shop-Floor Root-Cause Action:</a:t>
            </a:r>
            <a:r>
              <a:rPr lang="en-IN" sz="1600" dirty="0"/>
              <a:t> Current defect detection systems lack integrated semantic intelligence; they identify defective items but fail to retrieve similar historical defects or supply actionable corrective maintenance advisories via interactive knowledge assistants.</a:t>
            </a:r>
          </a:p>
          <a:p>
            <a:endParaRPr lang="en-IN" sz="1600" dirty="0"/>
          </a:p>
          <a:p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9783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 1"/>
          <p:cNvSpPr txBox="1">
            <a:spLocks noGrp="1"/>
          </p:cNvSpPr>
          <p:nvPr>
            <p:ph type="title"/>
          </p:nvPr>
        </p:nvSpPr>
        <p:spPr>
          <a:xfrm>
            <a:off x="202676" y="13976"/>
            <a:ext cx="8738648" cy="747237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843C0B"/>
                </a:solidFill>
                <a:latin typeface="Calisto MT"/>
                <a:ea typeface="Calisto MT"/>
                <a:cs typeface="Calisto MT"/>
                <a:sym typeface="Calisto MT"/>
              </a:defRPr>
            </a:lvl1pPr>
          </a:lstStyle>
          <a:p>
            <a:r>
              <a:t>12. SDLC Model</a:t>
            </a:r>
          </a:p>
        </p:txBody>
      </p:sp>
      <p:sp>
        <p:nvSpPr>
          <p:cNvPr id="153" name="Slide Number Placeholder 6"/>
          <p:cNvSpPr txBox="1">
            <a:spLocks noGrp="1"/>
          </p:cNvSpPr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Calibri"/>
              </a:rPr>
              <a:pPr marL="0" marR="0" lvl="0" indent="0" algn="r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+mn-ea"/>
              <a:cs typeface="+mn-cs"/>
              <a:sym typeface="Calibri"/>
            </a:endParaRPr>
          </a:p>
        </p:txBody>
      </p:sp>
      <p:grpSp>
        <p:nvGrpSpPr>
          <p:cNvPr id="156" name="Group"/>
          <p:cNvGrpSpPr/>
          <p:nvPr/>
        </p:nvGrpSpPr>
        <p:grpSpPr>
          <a:xfrm>
            <a:off x="1624844" y="1033260"/>
            <a:ext cx="5417889" cy="5389246"/>
            <a:chOff x="0" y="0"/>
            <a:chExt cx="5417888" cy="5389244"/>
          </a:xfrm>
        </p:grpSpPr>
        <p:pic>
          <p:nvPicPr>
            <p:cNvPr id="154" name="Picture 8" descr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5417889" cy="50082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5" name="Caption"/>
            <p:cNvSpPr/>
            <p:nvPr/>
          </p:nvSpPr>
          <p:spPr>
            <a:xfrm>
              <a:off x="0" y="5109844"/>
              <a:ext cx="5417889" cy="279401"/>
            </a:xfrm>
            <a:prstGeom prst="roundRect">
              <a:avLst>
                <a:gd name="adj" fmla="val 0"/>
              </a:avLst>
            </a:prstGeom>
            <a:solidFill>
              <a:srgbClr val="000000">
                <a:alpha val="0"/>
              </a:srgb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>
                <a:defRPr sz="1200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Roman"/>
                  <a:sym typeface="Times Roman"/>
                </a:rPr>
                <a:t>				Machine Learning Life Cycle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E4914-9EAD-44C6-74AE-C3B888875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843C0C"/>
                </a:solidFill>
                <a:latin typeface="Calisto MT" panose="02040603050505030304" pitchFamily="18" charset="0"/>
              </a:rPr>
              <a:t>13.1. Use Case Diagram</a:t>
            </a:r>
            <a:endParaRPr lang="en-IN" sz="3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98FD74-8A67-05D4-78F2-7FBEEE7B4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096" y="1066800"/>
            <a:ext cx="7789807" cy="51101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7D16F-CCE9-47ED-75E3-B0E86905C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26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6C22-A1B8-982F-B5C4-0DEE05CB9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843C0C"/>
                </a:solidFill>
                <a:latin typeface="Calisto MT" panose="02040603050505030304" pitchFamily="18" charset="0"/>
              </a:rPr>
              <a:t>13.2. Sequence Diagram</a:t>
            </a:r>
            <a:endParaRPr lang="en-IN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3A684-6C61-0B6B-D24B-203C648F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14CFA27-0006-FE05-91B3-F75F268704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096" y="1143001"/>
            <a:ext cx="7789807" cy="503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1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A8019-7214-623D-2D33-57E2BAA11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25473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843C0C"/>
                </a:solidFill>
                <a:latin typeface="Calisto MT" panose="02040603050505030304" pitchFamily="18" charset="0"/>
              </a:rPr>
              <a:t>13.3. Activity Diagram</a:t>
            </a:r>
            <a:endParaRPr lang="en-IN" sz="3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7DE311-B194-8398-7276-0FD3BCF69D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096" y="990600"/>
            <a:ext cx="7789807" cy="550227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AE89F-D615-9B51-7E0F-5C71EB1C8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6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36" y="136524"/>
            <a:ext cx="8738648" cy="54927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843C0C"/>
                </a:solidFill>
                <a:latin typeface="Calisto MT" panose="02040603050505030304" pitchFamily="18" charset="0"/>
              </a:rPr>
              <a:t>14. Functional Requirements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472" y="749808"/>
            <a:ext cx="84490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843C0C"/>
                </a:solidFill>
                <a:latin typeface="Calisto MT"/>
              </a:rPr>
              <a:t>Table 2: Functional and Non-Functional Requirements of the Proposed System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930228"/>
              </p:ext>
            </p:extLst>
          </p:nvPr>
        </p:nvGraphicFramePr>
        <p:xfrm>
          <a:off x="347472" y="1170433"/>
          <a:ext cx="8579712" cy="4749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9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 dirty="0"/>
                        <a:t>Req. ID</a:t>
                      </a:r>
                      <a:endParaRPr lang="en-IN" sz="15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 dirty="0"/>
                        <a:t>Requirement Type</a:t>
                      </a:r>
                      <a:endParaRPr lang="en-IN" sz="15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/>
                        <a:t>System Requirement Specification</a:t>
                      </a:r>
                      <a:endParaRPr lang="en-IN" sz="15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/>
                        <a:t>Target Metric / Validation Criteria</a:t>
                      </a:r>
                      <a:endParaRPr lang="en-IN" sz="1500" baseline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/>
                        <a:t>FR-01</a:t>
                      </a:r>
                      <a:endParaRPr lang="en-IN" sz="15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Functional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Ingest and preprocess industrial inspection images across 15 categories (MVTec AD). Standardize resolution to </a:t>
                      </a:r>
                      <a:r>
                        <a:rPr lang="en-IN" sz="1500" b="1" baseline="0"/>
                        <a:t>1024×1024 → 224×224 tensors</a:t>
                      </a:r>
                      <a:endParaRPr lang="en-IN" sz="15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Consistent input dimensions and preprocessing pipeline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080380"/>
                  </a:ext>
                </a:extLst>
              </a:tr>
              <a:tr h="820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/>
                        <a:t>FR-02</a:t>
                      </a:r>
                      <a:endParaRPr lang="en-IN" sz="15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Functional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Perform binary classification: </a:t>
                      </a:r>
                      <a:r>
                        <a:rPr lang="en-IN" sz="1500" b="1" baseline="0"/>
                        <a:t>Normal vs Defective</a:t>
                      </a:r>
                      <a:r>
                        <a:rPr lang="en-IN" sz="1500" baseline="0"/>
                        <a:t> 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ResNet-50 / EfficientNet-B4; Precision, Recall, 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/>
                        <a:t>FR-03</a:t>
                      </a:r>
                      <a:endParaRPr lang="en-IN" sz="15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Functional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Unsupervised anomaly detection with feature extraction, coreset reduction, and patch localization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PatchCore memory bank; Pixel-level AUROC, PRO 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/>
                        <a:t>FR-04</a:t>
                      </a:r>
                      <a:endParaRPr lang="en-IN" sz="15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Functional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Generate visual explanations and compute anomaly severity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Grad-CAM heatmaps; Severity classes: Minor, Moderate, 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/>
                        <a:t>FR-05</a:t>
                      </a:r>
                      <a:endParaRPr lang="en-IN" sz="15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Functional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Defect similarity retrieval and RAG-based root-cause advisory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 dirty="0"/>
                        <a:t>FAISS search (sub-</a:t>
                      </a:r>
                      <a:r>
                        <a:rPr lang="en-IN" sz="1500" baseline="0" dirty="0" err="1"/>
                        <a:t>ms</a:t>
                      </a:r>
                      <a:r>
                        <a:rPr lang="en-IN" sz="1500" baseline="0" dirty="0"/>
                        <a:t> latency); Operator remediation 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548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82602-F4E8-7537-9F34-9D1D0615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774A7-CD78-0C52-01EA-00EEFDE6B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36" y="136524"/>
            <a:ext cx="8738648" cy="54927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843C0C"/>
                </a:solidFill>
                <a:latin typeface="Calisto MT" panose="02040603050505030304" pitchFamily="18" charset="0"/>
              </a:rPr>
              <a:t>14. Functional Requirements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7B2E6-CB7B-0AED-EDBC-E306C9982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29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0C88A-BE14-322C-7E02-9B611DEDDA6E}"/>
              </a:ext>
            </a:extLst>
          </p:cNvPr>
          <p:cNvSpPr txBox="1"/>
          <p:nvPr/>
        </p:nvSpPr>
        <p:spPr>
          <a:xfrm>
            <a:off x="347472" y="749808"/>
            <a:ext cx="84490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843C0C"/>
                </a:solidFill>
                <a:latin typeface="Calisto MT"/>
              </a:rPr>
              <a:t>Table 2: Functional and Non-Functional Requirements of the Proposed System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FD67A10-EDCD-64F1-7747-FDE53E042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085307"/>
              </p:ext>
            </p:extLst>
          </p:nvPr>
        </p:nvGraphicFramePr>
        <p:xfrm>
          <a:off x="347472" y="1170433"/>
          <a:ext cx="8579712" cy="4831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9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 dirty="0"/>
                        <a:t>Req. ID</a:t>
                      </a:r>
                      <a:endParaRPr lang="en-IN" sz="15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/>
                        <a:t>Requirement Type</a:t>
                      </a:r>
                      <a:endParaRPr lang="en-IN" sz="15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/>
                        <a:t>System Requirement Specification</a:t>
                      </a:r>
                      <a:endParaRPr lang="en-IN" sz="15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/>
                        <a:t>Target Metric / Validation Criteria</a:t>
                      </a:r>
                      <a:endParaRPr lang="en-IN" sz="1500" baseline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/>
                        <a:t>NFR-01</a:t>
                      </a:r>
                      <a:endParaRPr lang="en-IN" sz="15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Non-Functional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Detection sensitivity and zero-shot anomaly localization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≥ 99.0% Image-level AUROC, ≥ 97.5% Pixel-level AUROC on MVTec 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080380"/>
                  </a:ext>
                </a:extLst>
              </a:tr>
              <a:tr h="820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/>
                        <a:t>NFR-02</a:t>
                      </a:r>
                      <a:endParaRPr lang="en-IN" sz="15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Non-Functional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Real-time optical inspection inference throughput for factory assembly 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End-to-end pipeline latency &lt; 35 ms per image frame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/>
                        <a:t>NFR-03</a:t>
                      </a:r>
                      <a:endParaRPr lang="en-IN" sz="15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Non-Functional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Memory efficiency for deep feature representations and patch 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Greedy coreset subsampling reducing memory footprint by ≥ 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baseline="0"/>
                        <a:t>NFR-04</a:t>
                      </a:r>
                      <a:endParaRPr lang="en-IN" sz="15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Non-Functional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/>
                        <a:t>Platform scalability, modularity, and drift resilience against image perturbations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aseline="0" dirty="0"/>
                        <a:t>Robust to blur, noise, brightness shifts, and production distribution drift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84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6213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1ADCD-A3D1-9395-9D64-1F89D8A2F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91AC12C-FC45-6098-D22D-88C023224A9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28203" y="6457267"/>
            <a:ext cx="249554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435"/>
                </a:lnSpc>
              </a:pPr>
              <a:t>30</a:t>
            </a:fld>
            <a:endParaRPr spc="-25"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64623FF-133E-C752-9A11-86649DA544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184" y="215900"/>
            <a:ext cx="581121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000" b="1" dirty="0">
                <a:solidFill>
                  <a:srgbClr val="843C0C"/>
                </a:solidFill>
                <a:latin typeface="Calisto MT"/>
              </a:rPr>
              <a:t>15. Data Collection</a:t>
            </a:r>
            <a:r>
              <a:rPr lang="en-IN" sz="3000" spc="110" dirty="0"/>
              <a:t> </a:t>
            </a:r>
            <a:endParaRPr sz="3000" spc="-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10167A22-4C2F-BC94-8772-42A5BD580085}"/>
                  </a:ext>
                </a:extLst>
              </p:cNvPr>
              <p:cNvSpPr txBox="1"/>
              <p:nvPr/>
            </p:nvSpPr>
            <p:spPr>
              <a:xfrm>
                <a:off x="437184" y="838200"/>
                <a:ext cx="8040573" cy="5895845"/>
              </a:xfrm>
              <a:prstGeom prst="rect">
                <a:avLst/>
              </a:prstGeom>
            </p:spPr>
            <p:txBody>
              <a:bodyPr vert="horz" wrap="square" lIns="0" tIns="47625" rIns="0" bIns="0" rtlCol="0">
                <a:spAutoFit/>
              </a:bodyPr>
              <a:lstStyle/>
              <a:p>
                <a:r>
                  <a:rPr lang="en-IN" sz="2000" b="1" dirty="0"/>
                  <a:t>Name of the Primary Dataset:</a:t>
                </a:r>
                <a:r>
                  <a:rPr lang="en-IN" sz="2000" dirty="0"/>
                  <a:t> </a:t>
                </a:r>
                <a:r>
                  <a:rPr lang="en-IN" sz="1600" dirty="0" err="1"/>
                  <a:t>MVTec</a:t>
                </a:r>
                <a:r>
                  <a:rPr lang="en-IN" sz="1600" dirty="0"/>
                  <a:t> Anomaly Detection (</a:t>
                </a:r>
                <a:r>
                  <a:rPr lang="en-IN" sz="1600" dirty="0" err="1"/>
                  <a:t>MVTec</a:t>
                </a:r>
                <a:r>
                  <a:rPr lang="en-IN" sz="1600" dirty="0"/>
                  <a:t> AD) Benchmark </a:t>
                </a:r>
              </a:p>
              <a:p>
                <a:endParaRPr lang="en-IN" sz="1600" dirty="0"/>
              </a:p>
              <a:p>
                <a:r>
                  <a:rPr lang="en-IN" sz="2000" b="1" dirty="0"/>
                  <a:t>Description:</a:t>
                </a:r>
                <a:r>
                  <a:rPr lang="en-IN" sz="2000" dirty="0"/>
                  <a:t> </a:t>
                </a:r>
                <a:r>
                  <a:rPr lang="en-IN" sz="1600" dirty="0"/>
                  <a:t>A premier, real-world industrial optical inspection benchmark containing 15 diverse categories divided into 5 industrial textures (carpet, grid, leather, tile, wood) and 10 manufacturing objects (bottle, cable, capsule, hazelnut, metal nut, pill, screw, toothbrush, transistor, zipper). Features comprehensive pixel-level ground-truth masks for localized defect evaluation. </a:t>
                </a:r>
              </a:p>
              <a:p>
                <a:endParaRPr lang="en-IN" sz="1600" dirty="0"/>
              </a:p>
              <a:p>
                <a:r>
                  <a:rPr lang="en-IN" sz="2000" b="1" dirty="0"/>
                  <a:t>Dataset Splits &amp; Statistics:</a:t>
                </a:r>
                <a:endParaRPr lang="en-IN" sz="2000" dirty="0"/>
              </a:p>
              <a:p>
                <a:pPr lvl="0"/>
                <a:r>
                  <a:rPr lang="en-IN" sz="1600" b="1" dirty="0"/>
                  <a:t>Total Image Count:</a:t>
                </a:r>
                <a:r>
                  <a:rPr lang="en-IN" sz="1600" dirty="0"/>
                  <a:t> 5,354 high-resolution images (</a:t>
                </a:r>
                <a14:m>
                  <m:oMath xmlns:m="http://schemas.openxmlformats.org/officeDocument/2006/math">
                    <m:r>
                      <a:rPr lang="en-IN" sz="1600">
                        <a:latin typeface="Cambria Math" panose="02040503050406030204" pitchFamily="18" charset="0"/>
                      </a:rPr>
                      <m:t>1024×1024</m:t>
                    </m:r>
                  </m:oMath>
                </a14:m>
                <a:r>
                  <a:rPr lang="en-IN" sz="1600" dirty="0"/>
                  <a:t> / </a:t>
                </a:r>
                <a14:m>
                  <m:oMath xmlns:m="http://schemas.openxmlformats.org/officeDocument/2006/math">
                    <m:r>
                      <a:rPr lang="en-IN" sz="1600">
                        <a:latin typeface="Cambria Math" panose="02040503050406030204" pitchFamily="18" charset="0"/>
                      </a:rPr>
                      <m:t>700×700</m:t>
                    </m:r>
                  </m:oMath>
                </a14:m>
                <a:r>
                  <a:rPr lang="en-IN" sz="1600" dirty="0"/>
                  <a:t>pixels) </a:t>
                </a:r>
              </a:p>
              <a:p>
                <a:pPr lvl="0"/>
                <a:r>
                  <a:rPr lang="en-IN" sz="1600" b="1" dirty="0"/>
                  <a:t>Train Split:</a:t>
                </a:r>
                <a:r>
                  <a:rPr lang="en-IN" sz="1600" dirty="0"/>
                  <a:t> 3,262 defect-free normal images used for baseline unsupervised representation learning </a:t>
                </a:r>
              </a:p>
              <a:p>
                <a:pPr lvl="0"/>
                <a:r>
                  <a:rPr lang="en-IN" sz="1600" b="1" dirty="0"/>
                  <a:t>Validation Split:</a:t>
                </a:r>
                <a:r>
                  <a:rPr lang="en-IN" sz="1600" dirty="0"/>
                  <a:t> 367 balanced normal and defective images for hyperparameter tuning and threshold calibration </a:t>
                </a:r>
              </a:p>
              <a:p>
                <a:pPr lvl="0"/>
                <a:r>
                  <a:rPr lang="en-IN" sz="1600" b="1" dirty="0"/>
                  <a:t>Test Split:</a:t>
                </a:r>
                <a:r>
                  <a:rPr lang="en-IN" sz="1600" dirty="0"/>
                  <a:t> 1,725 images containing normal items alongside genuine industrial defect variants (scratches, cracks, holes, bent leads, contamination) </a:t>
                </a:r>
              </a:p>
              <a:p>
                <a:pPr lvl="0"/>
                <a:r>
                  <a:rPr lang="en-IN" sz="1600" b="1" dirty="0"/>
                  <a:t>Ground-Truth Annotation Masks:</a:t>
                </a:r>
                <a:r>
                  <a:rPr lang="en-IN" sz="1600" dirty="0"/>
                  <a:t> 1,258 pixel-accurate defect segmentation masks </a:t>
                </a:r>
              </a:p>
              <a:p>
                <a:r>
                  <a:rPr lang="en-IN" sz="1600" b="1" dirty="0"/>
                  <a:t>Modalities &amp; Resolution:</a:t>
                </a:r>
                <a:r>
                  <a:rPr lang="en-IN" sz="1600" dirty="0"/>
                  <a:t> High-resolution RGB images normalized to </a:t>
                </a:r>
                <a:r>
                  <a:rPr lang="en-IN" sz="1600" dirty="0" err="1"/>
                  <a:t>PyTorch</a:t>
                </a:r>
                <a:r>
                  <a:rPr lang="en-IN" sz="1600" dirty="0"/>
                  <a:t> tensors (</a:t>
                </a:r>
                <a14:m>
                  <m:oMath xmlns:m="http://schemas.openxmlformats.org/officeDocument/2006/math">
                    <m:r>
                      <a:rPr lang="en-IN" sz="1600">
                        <a:latin typeface="Cambria Math" panose="02040503050406030204" pitchFamily="18" charset="0"/>
                      </a:rPr>
                      <m:t>224×224</m:t>
                    </m:r>
                  </m:oMath>
                </a14:m>
                <a:r>
                  <a:rPr lang="en-IN" sz="1600" dirty="0"/>
                  <a:t> / </a:t>
                </a:r>
                <a14:m>
                  <m:oMath xmlns:m="http://schemas.openxmlformats.org/officeDocument/2006/math">
                    <m:r>
                      <a:rPr lang="en-IN" sz="1600">
                        <a:latin typeface="Cambria Math" panose="02040503050406030204" pitchFamily="18" charset="0"/>
                      </a:rPr>
                      <m:t>256×256</m:t>
                    </m:r>
                  </m:oMath>
                </a14:m>
                <a:r>
                  <a:rPr lang="en-IN" sz="1600" dirty="0"/>
                  <a:t>input dimensions) paired with binary segmentation ground-truth masks. </a:t>
                </a:r>
              </a:p>
              <a:p>
                <a:endParaRPr lang="en-IN" sz="1600" dirty="0"/>
              </a:p>
              <a:p>
                <a:endParaRPr sz="1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10167A22-4C2F-BC94-8772-42A5BD580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84" y="838200"/>
                <a:ext cx="8040573" cy="5895845"/>
              </a:xfrm>
              <a:prstGeom prst="rect">
                <a:avLst/>
              </a:prstGeom>
              <a:blipFill>
                <a:blip r:embed="rId2"/>
                <a:stretch>
                  <a:fillRect l="-1971" t="-517" r="-12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24937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5CB2A-7580-DA3A-1EC1-89E84CC11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437E7BA-E2E4-6815-05F2-3559C717B5D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28203" y="6457267"/>
            <a:ext cx="249554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435"/>
                </a:lnSpc>
              </a:pPr>
              <a:t>31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6A14E572-50AA-8E23-E29C-EFF05D92444A}"/>
                  </a:ext>
                </a:extLst>
              </p:cNvPr>
              <p:cNvSpPr txBox="1"/>
              <p:nvPr/>
            </p:nvSpPr>
            <p:spPr>
              <a:xfrm>
                <a:off x="437184" y="838200"/>
                <a:ext cx="8040573" cy="5224315"/>
              </a:xfrm>
              <a:prstGeom prst="rect">
                <a:avLst/>
              </a:prstGeom>
            </p:spPr>
            <p:txBody>
              <a:bodyPr vert="horz" wrap="square" lIns="0" tIns="47625" rIns="0" bIns="0" rtlCol="0">
                <a:spAutoFit/>
              </a:bodyPr>
              <a:lstStyle/>
              <a:p>
                <a:pPr algn="l"/>
                <a:r>
                  <a:rPr lang="en-IN" sz="1600" b="1" dirty="0"/>
                  <a:t>Input:</a:t>
                </a:r>
                <a:r>
                  <a:rPr lang="en-IN" sz="1600" dirty="0"/>
                  <a:t> Raw multi-category industrial inspection images (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16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IN" sz="16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IN" sz="1600">
                            <a:latin typeface="Cambria Math" panose="02040503050406030204" pitchFamily="18" charset="0"/>
                          </a:rPr>
                          <m:t>×3</m:t>
                        </m:r>
                      </m:sup>
                    </m:sSup>
                  </m:oMath>
                </a14:m>
                <a:r>
                  <a:rPr lang="en-IN" sz="1600" dirty="0"/>
                  <a:t>) and ground-truth defect masks. </a:t>
                </a:r>
              </a:p>
              <a:p>
                <a:pPr algn="l"/>
                <a:endParaRPr lang="en-IN" sz="1600" dirty="0"/>
              </a:p>
              <a:p>
                <a:pPr lvl="0" algn="l"/>
                <a:r>
                  <a:rPr lang="en-IN" sz="1600" b="1" dirty="0"/>
                  <a:t>Cleaning and Filtering:</a:t>
                </a:r>
                <a:r>
                  <a:rPr lang="en-IN" sz="1600" dirty="0"/>
                  <a:t> Remove non-image artifacts (e.g., license/readme text files) and verify dataset directory integrity (train, test, </a:t>
                </a:r>
                <a:r>
                  <a:rPr lang="en-IN" sz="1600" dirty="0" err="1"/>
                  <a:t>ground_truth</a:t>
                </a:r>
                <a:r>
                  <a:rPr lang="en-IN" sz="1600" dirty="0"/>
                  <a:t>) across all 15 categories. </a:t>
                </a:r>
              </a:p>
              <a:p>
                <a:pPr lvl="0" algn="l"/>
                <a:r>
                  <a:rPr lang="en-IN" sz="1600" b="1" dirty="0"/>
                  <a:t>Resolution Standardization &amp; Preprocessing:</a:t>
                </a:r>
                <a:r>
                  <a:rPr lang="en-IN" sz="1600" dirty="0"/>
                  <a:t> Resize raw images to standardized dimensions (</a:t>
                </a:r>
                <a14:m>
                  <m:oMath xmlns:m="http://schemas.openxmlformats.org/officeDocument/2006/math">
                    <m:r>
                      <a:rPr lang="en-IN" sz="1600">
                        <a:latin typeface="Cambria Math" panose="02040503050406030204" pitchFamily="18" charset="0"/>
                      </a:rPr>
                      <m:t>256×256</m:t>
                    </m:r>
                  </m:oMath>
                </a14:m>
                <a:r>
                  <a:rPr lang="en-IN" sz="1600" dirty="0"/>
                  <a:t> or </a:t>
                </a:r>
                <a14:m>
                  <m:oMath xmlns:m="http://schemas.openxmlformats.org/officeDocument/2006/math">
                    <m:r>
                      <a:rPr lang="en-IN" sz="1600">
                        <a:latin typeface="Cambria Math" panose="02040503050406030204" pitchFamily="18" charset="0"/>
                      </a:rPr>
                      <m:t>224×224</m:t>
                    </m:r>
                  </m:oMath>
                </a14:m>
                <a:r>
                  <a:rPr lang="en-IN" sz="1600" dirty="0"/>
                  <a:t>) and normalize pixel intensities using standard ImageNet mean (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16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>
                            <a:latin typeface="Cambria Math" panose="02040503050406030204" pitchFamily="18" charset="0"/>
                          </a:rPr>
                          <m:t>0.485,0.456,0.406</m:t>
                        </m:r>
                      </m:e>
                    </m:d>
                  </m:oMath>
                </a14:m>
                <a:r>
                  <a:rPr lang="en-IN" sz="1600" dirty="0"/>
                  <a:t>) and variance (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16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>
                            <a:latin typeface="Cambria Math" panose="02040503050406030204" pitchFamily="18" charset="0"/>
                          </a:rPr>
                          <m:t>0.229,0.224,0.225</m:t>
                        </m:r>
                      </m:e>
                    </m:d>
                  </m:oMath>
                </a14:m>
                <a:r>
                  <a:rPr lang="en-IN" sz="1600" dirty="0"/>
                  <a:t>).</a:t>
                </a:r>
              </a:p>
              <a:p>
                <a:pPr lvl="0" algn="l"/>
                <a:r>
                  <a:rPr lang="en-IN" sz="1600" b="1" dirty="0"/>
                  <a:t>Data Augmentation (Supervised Path):</a:t>
                </a:r>
                <a:r>
                  <a:rPr lang="en-IN" sz="1600" dirty="0"/>
                  <a:t> Apply random affine transformations, </a:t>
                </a:r>
                <a:r>
                  <a:rPr lang="en-IN" sz="1600" dirty="0" err="1"/>
                  <a:t>color</a:t>
                </a:r>
                <a:r>
                  <a:rPr lang="en-IN" sz="1600" dirty="0"/>
                  <a:t> jittering, horizontal/vertical flips, and Gaussian noise to train splits while preserving defect-free distributions. </a:t>
                </a:r>
              </a:p>
              <a:p>
                <a:pPr lvl="0" algn="l"/>
                <a:r>
                  <a:rPr lang="en-IN" sz="1600" b="1" dirty="0"/>
                  <a:t>Patch-Level Feature Extraction (Unsupervised Path):</a:t>
                </a:r>
                <a:r>
                  <a:rPr lang="en-IN" sz="1600" dirty="0"/>
                  <a:t> Pass normal images through pre-trained backbones (ResNet-50 / WideResNet-50), extract intermediate layer-2 and layer-3 patch representations, and aggregate local spatial feature </a:t>
                </a:r>
                <a:r>
                  <a:rPr lang="en-IN" sz="1600" dirty="0" err="1"/>
                  <a:t>neighborhoods</a:t>
                </a:r>
                <a:r>
                  <a:rPr lang="en-IN" sz="1600" dirty="0"/>
                  <a:t>. </a:t>
                </a:r>
              </a:p>
              <a:p>
                <a:pPr lvl="0" algn="l"/>
                <a:r>
                  <a:rPr lang="en-IN" sz="1600" b="1" dirty="0"/>
                  <a:t>Memory Bank Coreset </a:t>
                </a:r>
                <a:r>
                  <a:rPr lang="en-IN" sz="1600" b="1" dirty="0" err="1"/>
                  <a:t>Downsampling</a:t>
                </a:r>
                <a:r>
                  <a:rPr lang="en-IN" sz="1600" b="1" dirty="0"/>
                  <a:t>:</a:t>
                </a:r>
                <a:r>
                  <a:rPr lang="en-IN" sz="1600" dirty="0"/>
                  <a:t> Apply greedy minimax coreset selection to compress patch feature embeddings into a robust, low-latency memory bank without loss of coverage.</a:t>
                </a:r>
              </a:p>
              <a:p>
                <a:pPr lvl="0" algn="l"/>
                <a:endParaRPr lang="en-IN" sz="1600" dirty="0"/>
              </a:p>
              <a:p>
                <a:pPr algn="l"/>
                <a:r>
                  <a:rPr lang="en-IN" sz="1600" b="1" dirty="0"/>
                  <a:t>Output:</a:t>
                </a:r>
                <a:r>
                  <a:rPr lang="en-IN" sz="1600" dirty="0"/>
                  <a:t> Batch-ready normalized image tensors and a compact coreset memory bank ready for multi-model defect classification and pixel-level anomaly localization.</a:t>
                </a:r>
              </a:p>
              <a:p>
                <a:endParaRPr sz="1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6A14E572-50AA-8E23-E29C-EFF05D924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84" y="838200"/>
                <a:ext cx="8040573" cy="5224315"/>
              </a:xfrm>
              <a:prstGeom prst="rect">
                <a:avLst/>
              </a:prstGeom>
              <a:blipFill>
                <a:blip r:embed="rId2"/>
                <a:stretch>
                  <a:fillRect l="-1592" t="-233" r="-20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7">
            <a:extLst>
              <a:ext uri="{FF2B5EF4-FFF2-40B4-BE49-F238E27FC236}">
                <a16:creationId xmlns:a16="http://schemas.microsoft.com/office/drawing/2014/main" id="{E0C6ABF5-FDCC-03EA-3255-DE9542CA70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563" y="215900"/>
            <a:ext cx="5811837" cy="4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843C0C"/>
                </a:solidFill>
                <a:latin typeface="Calisto MT" panose="02040603050505030304" pitchFamily="18" charset="0"/>
              </a:rPr>
              <a:t>16. Data Preparation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50411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F6D41-8B00-DE8F-7F82-9281F7F1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4518-4D1A-BA7B-0FD9-70F4CE313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18" y="126999"/>
            <a:ext cx="8006303" cy="549273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843C0C"/>
                </a:solidFill>
                <a:latin typeface="Calisto MT" panose="02040603050505030304" pitchFamily="18" charset="0"/>
              </a:rPr>
              <a:t>17.1. Proposed System Architecture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D88F9-79B5-CB9F-9F1A-C474A415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32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295" y="6087046"/>
            <a:ext cx="90027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00000"/>
                </a:solidFill>
                <a:latin typeface="Calisto MT"/>
              </a:rPr>
              <a:t>Figure 6. Overall System Architecture of the Proposed</a:t>
            </a:r>
            <a:r>
              <a:rPr lang="en-IN" sz="1400" b="1" i="0" dirty="0">
                <a:solidFill>
                  <a:srgbClr val="000000"/>
                </a:solidFill>
                <a:latin typeface="Calisto MT"/>
              </a:rPr>
              <a:t> </a:t>
            </a:r>
            <a:r>
              <a:rPr lang="en-US" sz="1400" b="1" spc="-10" dirty="0"/>
              <a:t>Multi-</a:t>
            </a:r>
            <a:r>
              <a:rPr lang="en-US" sz="1400" b="1" dirty="0"/>
              <a:t>Model</a:t>
            </a:r>
            <a:r>
              <a:rPr lang="en-US" sz="1400" b="1" spc="-65" dirty="0"/>
              <a:t> </a:t>
            </a:r>
            <a:r>
              <a:rPr lang="en-US" sz="1400" b="1" spc="-10" dirty="0"/>
              <a:t>Industrial Defect</a:t>
            </a:r>
            <a:r>
              <a:rPr lang="en-US" sz="1400" b="1" spc="-60" dirty="0"/>
              <a:t> </a:t>
            </a:r>
            <a:r>
              <a:rPr lang="en-US" sz="1400" b="1" dirty="0"/>
              <a:t>Detection</a:t>
            </a:r>
            <a:r>
              <a:rPr lang="en-US" sz="1400" b="1" spc="-75" dirty="0"/>
              <a:t> </a:t>
            </a:r>
            <a:r>
              <a:rPr lang="en-US" sz="1400" b="1" dirty="0"/>
              <a:t>and</a:t>
            </a:r>
            <a:r>
              <a:rPr lang="en-US" sz="1400" b="1" spc="-90" dirty="0"/>
              <a:t> </a:t>
            </a:r>
            <a:r>
              <a:rPr lang="en-US" sz="1400" b="1" spc="-10" dirty="0"/>
              <a:t>Intelligent</a:t>
            </a:r>
            <a:r>
              <a:rPr lang="en-US" sz="1400" b="1" spc="-55" dirty="0"/>
              <a:t> </a:t>
            </a:r>
            <a:r>
              <a:rPr lang="en-US" sz="1400" b="1" dirty="0"/>
              <a:t>Quality</a:t>
            </a:r>
            <a:r>
              <a:rPr lang="en-US" sz="1400" b="1" spc="-75" dirty="0"/>
              <a:t> </a:t>
            </a:r>
            <a:r>
              <a:rPr lang="en-US" sz="1400" b="1" spc="-10" dirty="0"/>
              <a:t>Inspection System</a:t>
            </a:r>
            <a:r>
              <a:rPr sz="1400" b="1" i="0" dirty="0">
                <a:solidFill>
                  <a:srgbClr val="000000"/>
                </a:solidFill>
                <a:latin typeface="Calisto MT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8C0B08-E1E3-FE4C-D9D5-D8992E169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812" y="933101"/>
            <a:ext cx="4296375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276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E9A30-9E3A-CA85-77B0-7091B412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9F19FE9F-0BA9-9940-9C74-F22D165ADF9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28203" y="6457267"/>
            <a:ext cx="249554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435"/>
                </a:lnSpc>
              </a:pPr>
              <a:t>33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14AD05EC-4BE5-1329-4FA5-5ADE6AB21C2D}"/>
                  </a:ext>
                </a:extLst>
              </p:cNvPr>
              <p:cNvSpPr txBox="1"/>
              <p:nvPr/>
            </p:nvSpPr>
            <p:spPr>
              <a:xfrm>
                <a:off x="437184" y="701284"/>
                <a:ext cx="8040573" cy="5957400"/>
              </a:xfrm>
              <a:prstGeom prst="rect">
                <a:avLst/>
              </a:prstGeom>
            </p:spPr>
            <p:txBody>
              <a:bodyPr vert="horz" wrap="square" lIns="0" tIns="47625" rIns="0" bIns="0" rtlCol="0">
                <a:spAutoFit/>
              </a:bodyPr>
              <a:lstStyle/>
              <a:p>
                <a:r>
                  <a:rPr lang="en-IN" sz="1600" b="1" dirty="0"/>
                  <a:t>Module 1: Preprocessing and Multi-Model Detection Engine</a:t>
                </a:r>
              </a:p>
              <a:p>
                <a:pPr lvl="0"/>
                <a:r>
                  <a:rPr lang="en-IN" sz="1600" dirty="0"/>
                  <a:t>Ingests and standardizes raw industrial optical inspection images (</a:t>
                </a:r>
                <a14:m>
                  <m:oMath xmlns:m="http://schemas.openxmlformats.org/officeDocument/2006/math">
                    <m:r>
                      <a:rPr lang="en-IN" sz="1600">
                        <a:latin typeface="Cambria Math" panose="02040503050406030204" pitchFamily="18" charset="0"/>
                      </a:rPr>
                      <m:t>1024×1024</m:t>
                    </m:r>
                  </m:oMath>
                </a14:m>
                <a:r>
                  <a:rPr lang="en-IN" sz="1600" dirty="0"/>
                  <a:t> / </a:t>
                </a:r>
                <a14:m>
                  <m:oMath xmlns:m="http://schemas.openxmlformats.org/officeDocument/2006/math">
                    <m:r>
                      <a:rPr lang="en-IN" sz="1600">
                        <a:latin typeface="Cambria Math" panose="02040503050406030204" pitchFamily="18" charset="0"/>
                      </a:rPr>
                      <m:t>256×256</m:t>
                    </m:r>
                  </m:oMath>
                </a14:m>
                <a:r>
                  <a:rPr lang="en-IN" sz="1600" dirty="0"/>
                  <a:t>) across all 15 </a:t>
                </a:r>
                <a:r>
                  <a:rPr lang="en-IN" sz="1600" dirty="0" err="1"/>
                  <a:t>MVTec</a:t>
                </a:r>
                <a:r>
                  <a:rPr lang="en-IN" sz="1600" dirty="0"/>
                  <a:t> AD categories, applying normalization and augmentation pipelines. </a:t>
                </a:r>
              </a:p>
              <a:p>
                <a:pPr lvl="0"/>
                <a:r>
                  <a:rPr lang="en-IN" sz="1600" dirty="0"/>
                  <a:t>Executes hybrid defect detection by coupling supervised deep classifiers (ResNet-50 / </a:t>
                </a:r>
                <a:r>
                  <a:rPr lang="en-IN" sz="1600" dirty="0" err="1"/>
                  <a:t>EfficientNet</a:t>
                </a:r>
                <a:r>
                  <a:rPr lang="en-IN" sz="1600" dirty="0"/>
                  <a:t>) with unsupervised feature </a:t>
                </a:r>
                <a:r>
                  <a:rPr lang="en-IN" sz="1600" dirty="0" err="1"/>
                  <a:t>modeling</a:t>
                </a:r>
                <a:r>
                  <a:rPr lang="en-IN" sz="1600" dirty="0"/>
                  <a:t> (</a:t>
                </a:r>
                <a:r>
                  <a:rPr lang="en-IN" sz="1600" dirty="0" err="1"/>
                  <a:t>PatchCore</a:t>
                </a:r>
                <a:r>
                  <a:rPr lang="en-IN" sz="1600" dirty="0"/>
                  <a:t> / </a:t>
                </a:r>
                <a:r>
                  <a:rPr lang="en-IN" sz="1600" dirty="0" err="1"/>
                  <a:t>PaDiM</a:t>
                </a:r>
                <a:r>
                  <a:rPr lang="en-IN" sz="1600" dirty="0"/>
                  <a:t> / CAE) to distinguish defective items from defect-free units. </a:t>
                </a:r>
              </a:p>
              <a:p>
                <a:r>
                  <a:rPr lang="en-IN" sz="1600" b="1" dirty="0"/>
                  <a:t>Module 2: Anomaly Localization and Explainable AI (XAI) Module</a:t>
                </a:r>
              </a:p>
              <a:p>
                <a:pPr lvl="0"/>
                <a:r>
                  <a:rPr lang="en-IN" sz="1600" dirty="0"/>
                  <a:t>Extracts mid-level convolutional patch embeddings, applying greedy coreset reduction and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1600" dirty="0"/>
                  <a:t>-NN memory-bank search to pinpoint spatial defect locations. </a:t>
                </a:r>
              </a:p>
              <a:p>
                <a:pPr lvl="0"/>
                <a:r>
                  <a:rPr lang="en-IN" sz="1600" dirty="0"/>
                  <a:t>Computes high-resolution anomaly distance heatmaps and backpropagated Grad-CAM activation maps to provide transparent, verifiable visual explanations for quality inspection personnel. </a:t>
                </a:r>
              </a:p>
              <a:p>
                <a:r>
                  <a:rPr lang="en-IN" sz="1600" b="1" dirty="0"/>
                  <a:t>Module 3: Anomaly Metric Quantification and Severity Scoring Engine</a:t>
                </a:r>
              </a:p>
              <a:p>
                <a:pPr lvl="0"/>
                <a:r>
                  <a:rPr lang="en-IN" sz="1600" dirty="0"/>
                  <a:t>Processes localized anomaly segmentation masks to quantify peak anomaly intensity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1600" i="0"/>
                          <m:t>max</m:t>
                        </m:r>
                      </m:sub>
                    </m:sSub>
                  </m:oMath>
                </a14:m>
                <a:r>
                  <a:rPr lang="en-IN" sz="1600" dirty="0"/>
                  <a:t>) and affected surface defect area percentage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1600">
                            <a:latin typeface="Cambria Math" panose="02040503050406030204" pitchFamily="18" charset="0"/>
                          </a:rPr>
                          <m:t>%</m:t>
                        </m:r>
                      </m:sub>
                    </m:sSub>
                  </m:oMath>
                </a14:m>
                <a:r>
                  <a:rPr lang="en-IN" sz="1600" dirty="0"/>
                  <a:t>). </a:t>
                </a:r>
              </a:p>
              <a:p>
                <a:pPr lvl="0"/>
                <a:r>
                  <a:rPr lang="en-IN" sz="1600" dirty="0"/>
                  <a:t>Evaluates weighted triage thresholds (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1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60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1600" i="0"/>
                          <m:t>max</m:t>
                        </m:r>
                      </m:sub>
                    </m:sSub>
                    <m:r>
                      <a:rPr lang="en-IN" sz="16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1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60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1600">
                            <a:latin typeface="Cambria Math" panose="02040503050406030204" pitchFamily="18" charset="0"/>
                          </a:rPr>
                          <m:t>%</m:t>
                        </m:r>
                      </m:sub>
                    </m:sSub>
                  </m:oMath>
                </a14:m>
                <a:r>
                  <a:rPr lang="en-IN" sz="1600" dirty="0"/>
                  <a:t>) to classify defect severity into actionable operational categories: Minor, Moderate, and Critical. </a:t>
                </a:r>
              </a:p>
              <a:p>
                <a:r>
                  <a:rPr lang="en-IN" sz="1600" b="1" dirty="0"/>
                  <a:t>Module 4: FAISS Similarity Retrieval and Context-Augmented RAG Module</a:t>
                </a:r>
              </a:p>
              <a:p>
                <a:pPr lvl="0"/>
                <a:r>
                  <a:rPr lang="en-IN" sz="1600" dirty="0"/>
                  <a:t>Encodes detected defect regions into dense feature vectors, performing sub-millisecond similarity search across historical fault libraries via a FAISS index. </a:t>
                </a:r>
              </a:p>
              <a:p>
                <a:pPr lvl="0"/>
                <a:r>
                  <a:rPr lang="en-IN" sz="1600" dirty="0"/>
                  <a:t>Augments a generative language model with retrieved historical engineering records and technical documentation to automatically produce root-cause advisories and downloadable inspection reports.</a:t>
                </a: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14AD05EC-4BE5-1329-4FA5-5ADE6AB21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84" y="701284"/>
                <a:ext cx="8040573" cy="5957400"/>
              </a:xfrm>
              <a:prstGeom prst="rect">
                <a:avLst/>
              </a:prstGeom>
              <a:blipFill>
                <a:blip r:embed="rId2"/>
                <a:stretch>
                  <a:fillRect l="-1592" t="-307" r="-1213" b="-11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7">
            <a:extLst>
              <a:ext uri="{FF2B5EF4-FFF2-40B4-BE49-F238E27FC236}">
                <a16:creationId xmlns:a16="http://schemas.microsoft.com/office/drawing/2014/main" id="{9011A035-522F-8503-2980-6D191AD0D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563" y="199316"/>
            <a:ext cx="581183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843C0C"/>
                </a:solidFill>
                <a:latin typeface="Calisto MT" panose="02040603050505030304" pitchFamily="18" charset="0"/>
              </a:rPr>
              <a:t>17.2. Different Modules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5513869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0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843C0C"/>
                </a:solidFill>
                <a:latin typeface="Calisto MT" panose="02040603050505030304" pitchFamily="18" charset="0"/>
              </a:rPr>
              <a:t>17.3. Proposed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1398" y="5473912"/>
            <a:ext cx="88412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 dirty="0">
                <a:solidFill>
                  <a:srgbClr val="000000"/>
                </a:solidFill>
                <a:latin typeface="Calisto MT"/>
              </a:rPr>
              <a:t>Figure 7. Structure of </a:t>
            </a:r>
            <a:r>
              <a:rPr sz="1400" b="1" i="0" dirty="0" err="1">
                <a:solidFill>
                  <a:srgbClr val="000000"/>
                </a:solidFill>
                <a:latin typeface="Calisto MT"/>
              </a:rPr>
              <a:t>th</a:t>
            </a:r>
            <a:r>
              <a:rPr lang="en-IN" sz="1400" b="1" i="0" dirty="0">
                <a:solidFill>
                  <a:srgbClr val="000000"/>
                </a:solidFill>
                <a:latin typeface="Calisto MT"/>
              </a:rPr>
              <a:t>e</a:t>
            </a:r>
            <a:r>
              <a:rPr lang="en-US" sz="1400" b="1" i="0" dirty="0">
                <a:solidFill>
                  <a:srgbClr val="000000"/>
                </a:solidFill>
                <a:latin typeface="Calisto MT"/>
              </a:rPr>
              <a:t> Proposed </a:t>
            </a:r>
            <a:r>
              <a:rPr lang="en-US" sz="1400" b="1" spc="-10" dirty="0"/>
              <a:t>Multi-</a:t>
            </a:r>
            <a:r>
              <a:rPr lang="en-US" sz="1400" b="1" dirty="0"/>
              <a:t>Model</a:t>
            </a:r>
            <a:r>
              <a:rPr lang="en-US" sz="1400" b="1" spc="-65" dirty="0"/>
              <a:t> </a:t>
            </a:r>
            <a:r>
              <a:rPr lang="en-US" sz="1400" b="1" spc="-10" dirty="0"/>
              <a:t>Industrial Defect</a:t>
            </a:r>
            <a:r>
              <a:rPr lang="en-US" sz="1400" b="1" spc="-60" dirty="0"/>
              <a:t> </a:t>
            </a:r>
            <a:r>
              <a:rPr lang="en-US" sz="1400" b="1" dirty="0"/>
              <a:t>Detection</a:t>
            </a:r>
            <a:r>
              <a:rPr lang="en-US" sz="1400" b="1" spc="-75" dirty="0"/>
              <a:t> </a:t>
            </a:r>
            <a:r>
              <a:rPr lang="en-US" sz="1400" b="1" dirty="0"/>
              <a:t>and</a:t>
            </a:r>
            <a:r>
              <a:rPr lang="en-US" sz="1400" b="1" spc="-90" dirty="0"/>
              <a:t> Quality </a:t>
            </a:r>
            <a:r>
              <a:rPr lang="en-US" sz="1400" b="1" spc="-10" dirty="0"/>
              <a:t>Inspection System</a:t>
            </a:r>
            <a:r>
              <a:rPr sz="1400" b="1" i="0" dirty="0">
                <a:solidFill>
                  <a:srgbClr val="000000"/>
                </a:solidFill>
                <a:latin typeface="Calisto MT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61F4AC-667E-9629-3B00-6EE1E4E535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157"/>
          <a:stretch>
            <a:fillRect/>
          </a:stretch>
        </p:blipFill>
        <p:spPr>
          <a:xfrm>
            <a:off x="0" y="875109"/>
            <a:ext cx="9144000" cy="438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022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928</TotalTime>
  <Words>4102</Words>
  <Application>Microsoft Office PowerPoint</Application>
  <PresentationFormat>On-screen Show (4:3)</PresentationFormat>
  <Paragraphs>459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</vt:lpstr>
      <vt:lpstr>Calibri</vt:lpstr>
      <vt:lpstr>Calibri Light</vt:lpstr>
      <vt:lpstr>Calisto MT</vt:lpstr>
      <vt:lpstr>Cambria Math</vt:lpstr>
      <vt:lpstr>Georgia</vt:lpstr>
      <vt:lpstr>Times New Roman</vt:lpstr>
      <vt:lpstr>Times Roman</vt:lpstr>
      <vt:lpstr>Wingdings</vt:lpstr>
      <vt:lpstr>Office Theme</vt:lpstr>
      <vt:lpstr>1_Office Theme</vt:lpstr>
      <vt:lpstr>Department of Computer Science and Engineering</vt:lpstr>
      <vt:lpstr>Abstract</vt:lpstr>
      <vt:lpstr>Presentation Outline</vt:lpstr>
      <vt:lpstr>1. Research Domain</vt:lpstr>
      <vt:lpstr>2. SDG Categories</vt:lpstr>
      <vt:lpstr>3. Aim and Motivation</vt:lpstr>
      <vt:lpstr>4. Research Questions</vt:lpstr>
      <vt:lpstr>5. Title Justification</vt:lpstr>
      <vt:lpstr>6. Objectives</vt:lpstr>
      <vt:lpstr>7. Scope</vt:lpstr>
      <vt:lpstr>8. Timeline Chart Table No. : Timeline chart for Mini Project work</vt:lpstr>
      <vt:lpstr>9. Introduction</vt:lpstr>
      <vt:lpstr>10. Study on Existing Technologies</vt:lpstr>
      <vt:lpstr>10. Study on Existing Technologies</vt:lpstr>
      <vt:lpstr>10. Study on Existing Technologies</vt:lpstr>
      <vt:lpstr>10. Study on Existing Technologies</vt:lpstr>
      <vt:lpstr>10. Study on Existing Technologies</vt:lpstr>
      <vt:lpstr>10. Study on Existing Technologies</vt:lpstr>
      <vt:lpstr>10. Study on Existing Technologies</vt:lpstr>
      <vt:lpstr>10. Study on Existing Technologies</vt:lpstr>
      <vt:lpstr>10. Study on Existing Technologies</vt:lpstr>
      <vt:lpstr>10. Study on Existing Technologies</vt:lpstr>
      <vt:lpstr>11. Gap Analysis</vt:lpstr>
      <vt:lpstr>12. SDLC Model</vt:lpstr>
      <vt:lpstr>13.1. Use Case Diagram</vt:lpstr>
      <vt:lpstr>13.2. Sequence Diagram</vt:lpstr>
      <vt:lpstr>13.3. Activity Diagram</vt:lpstr>
      <vt:lpstr>14. Functional Requirements</vt:lpstr>
      <vt:lpstr>14. Functional Requirements</vt:lpstr>
      <vt:lpstr>15. Data Collection </vt:lpstr>
      <vt:lpstr>16. Data Preparation</vt:lpstr>
      <vt:lpstr>17.1. Proposed System Architecture</vt:lpstr>
      <vt:lpstr>17.2. Different Modules</vt:lpstr>
      <vt:lpstr>17.3. Proposed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creator>ashutosh satapathy</dc:creator>
  <cp:lastModifiedBy>Surya Charan Pallekala</cp:lastModifiedBy>
  <cp:revision>3</cp:revision>
  <dcterms:created xsi:type="dcterms:W3CDTF">2026-08-18T08:58:41Z</dcterms:created>
  <dcterms:modified xsi:type="dcterms:W3CDTF">2026-10-06T18:40:02Z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2026-08-16T00:00:00Z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2026-08-18T00:00:00Z</vt:filetime>
  </property>
  <property fmtid="{D5CDD505-2E9C-101B-9397-08002B2CF9AE}" pid="6" name="Producer">
    <vt:lpwstr>Microsoft® PowerPoint® 2021</vt:lpwstr>
  </property>
</Properties>
</file>